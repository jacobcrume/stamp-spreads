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 (0:00–0:07)</a:t>
            </a:r>
          </a:p>
          <a:p>
            <a:r>
              <a:t>Kia ora. I'm Jacob, and this is Stamp: a New Zealand breakfast spread innovation engineered for hot toast.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PROBLEM (0:07–0:14)</a:t>
            </a:r>
          </a:p>
          <a:p>
            <a:r>
              <a:t>Eating toast away from a full residential kitchen is fundamentally broken.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WHO FAILS (0:14–0:21)</a:t>
            </a:r>
          </a:p>
          <a:p>
            <a:r>
              <a:t>In an office or student flat, nobody wants to lug a sticky jar, hunt for a knife, and wash it in a shared sink.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UNMET NEED (0:21–0:28)</a:t>
            </a:r>
          </a:p>
          <a:p>
            <a:r>
              <a:t>Because jars are tethered to kitchens, consumers compromise on dry bars or skip breakfast altogether.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SOLUTION SHOWCASE (0:28–0:36)</a:t>
            </a:r>
          </a:p>
          <a:p>
            <a:r>
              <a:t>Stamp reinvents the format: calibrated 10-gram spread discs on release film across four launch flavours.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GESTURE (0:36–0:43)</a:t>
            </a:r>
          </a:p>
          <a:p>
            <a:r>
              <a:t>You press the disc onto hot bread, and residual thermal energy melts it evenly across the crumb in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STABILITY &amp; FORMAT (0:43–0:50)</a:t>
            </a:r>
          </a:p>
          <a:p>
            <a:r>
              <a:t>Engineered for room-temperature pantry and bag storage with full 12-month ambient stability.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MARKET SCALE (0:50–0:57)</a:t>
            </a:r>
          </a:p>
          <a:p>
            <a:r>
              <a:t>Cleaned supermarket scan data shows the New Zealand spreads category expanded 24% to 341 million dollars.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PREMIUM SURGE (0:57–1:05)</a:t>
            </a:r>
          </a:p>
          <a:p>
            <a:r>
              <a:t>Premium branded spreads surged 29% to 113 million dollars, massively outperforming commodity tiers.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COMPETITIVE VOID (1:05–1:12)</a:t>
            </a:r>
          </a:p>
          <a:p>
            <a:r>
              <a:t>Across 154 supermarket spreads, every single product is a jar. Not one offers a utensil-free portion format.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UNIT ECONOMICS (1:12–1:19)</a:t>
            </a:r>
          </a:p>
          <a:p>
            <a:r>
              <a:t>At 63 cents a serving, we retain a strong $1.75 gross margin to fund distribution and marketing.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MANUFACTURING (1:19–1:27)</a:t>
            </a:r>
          </a:p>
          <a:p>
            <a:r>
              <a:t>Production leverages existing contract rotary-die deposition lines, eliminating custom factory tooling.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LEAN PILOT (1:27–1:35)</a:t>
            </a:r>
          </a:p>
          <a:p>
            <a:r>
              <a:t>By partnering with established contract packers in Auckland, we validate consumer demand with minimal capex.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CONSTRAINTS (1:35–1:48)</a:t>
            </a:r>
          </a:p>
          <a:p>
            <a:r>
              <a:t>In steering AI, I enforced strict negative prompt constraints against fake certification badges and medical health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ARCHITECTURE (1:48–2:00)</a:t>
            </a:r>
          </a:p>
          <a:p>
            <a:r>
              <a:t>I partitioned distinct sessions for data cleaning, branding, and copy to prevent context rot and hallucinated metrics.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TURNING POINT (2:00–2:12)</a:t>
            </a:r>
          </a:p>
          <a:p>
            <a:r>
              <a:t>My pivotal turning point was catching an unrealistic AI claim that dairy butter could sit ambiently without spoilage.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VERIFICATION (2:12–2:22)</a:t>
            </a:r>
          </a:p>
          <a:p>
            <a:r>
              <a:t>I audited raw scan data outliers and manually verified shelf prices on New World instead of trusting model summaries.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AUTHENTICITY (2:22–2:30)</a:t>
            </a:r>
          </a:p>
          <a:p>
            <a:r>
              <a:t>To combat AI slop, I stripped corporate clichés and grounded packaging in real continuous deposit tooling.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REGULATION (2:30–2:38)</a:t>
            </a:r>
          </a:p>
          <a:p>
            <a:r>
              <a:t>In food and beverage, AI hallucinations are a severe legal hazard. I enforced strict FSANZ compliance and allergen safety.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ETHICS &amp; WRAP (2:38–2:45)</a:t>
            </a:r>
          </a:p>
          <a:p>
            <a:r>
              <a:t>Generative AI accelerates velocity, but human skepticism, taste, discernment, and moral ownership remain essential.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0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wordmark_ye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4087" y="2103120"/>
            <a:ext cx="5303520" cy="12975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71600" y="3720693"/>
            <a:ext cx="94484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E24BFF"/>
                </a:solidFill>
                <a:latin typeface="Manrope"/>
              </a:defRPr>
            </a:pPr>
            <a:r>
              <a:t>PEEL. PRESS. TOAST.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5852160"/>
            <a:ext cx="94484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FFFFFF"/>
                </a:solidFill>
                <a:latin typeface="Manrope"/>
              </a:defRPr>
            </a:pPr>
            <a:r>
              <a:t>Commercial Business Pitch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60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2011680"/>
            <a:ext cx="978408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FF467A"/>
                </a:solidFill>
                <a:latin typeface="Manrope"/>
              </a:defRPr>
            </a:pPr>
            <a:r>
              <a:t>The Problem</a:t>
            </a:r>
          </a:p>
          <a:p>
            <a:pPr>
              <a:spcAft>
                <a:spcPts val="1400"/>
              </a:spcAft>
              <a:defRPr sz="4600" b="1">
                <a:solidFill>
                  <a:srgbClr val="FFFFFF"/>
                </a:solidFill>
                <a:latin typeface="Manrope"/>
              </a:defRPr>
            </a:pPr>
            <a:r>
              <a:t>Jars Require Infrastructure.</a:t>
            </a:r>
          </a:p>
          <a:p>
            <a:pPr>
              <a:defRPr sz="2200" b="0">
                <a:solidFill>
                  <a:srgbClr val="FF467A"/>
                </a:solidFill>
                <a:latin typeface="Manrope"/>
              </a:defRPr>
            </a:pPr>
            <a:r>
              <a:t>Table knives, kitchen benches, and hot running water.</a:t>
            </a:r>
          </a:p>
        </p:txBody>
      </p:sp>
      <p:pic>
        <p:nvPicPr>
          <p:cNvPr id="4" name="Picture 3" descr="wordmark_raspber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0047" y="6172200"/>
            <a:ext cx="1371600" cy="33558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60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2011680"/>
            <a:ext cx="978408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4400" b="1">
                <a:solidFill>
                  <a:srgbClr val="FFFFFF"/>
                </a:solidFill>
                <a:latin typeface="Manrope"/>
              </a:defRPr>
            </a:pPr>
            <a:r>
              <a:t>Eating Away from Home is Broken.</a:t>
            </a:r>
          </a:p>
          <a:p>
            <a:pPr>
              <a:spcAft>
                <a:spcPts val="1400"/>
              </a:spcAft>
              <a:defRPr sz="2600" b="1">
                <a:solidFill>
                  <a:srgbClr val="FF467A"/>
                </a:solidFill>
                <a:latin typeface="Manrope"/>
              </a:defRPr>
            </a:pPr>
            <a:r>
              <a:t>Desk workers, commuters, and students in dorms.</a:t>
            </a:r>
          </a:p>
          <a:p>
            <a:pPr>
              <a:defRPr sz="2200" b="1">
                <a:solidFill>
                  <a:srgbClr val="FFFFFF"/>
                </a:solidFill>
                <a:latin typeface="Manrope"/>
              </a:defRPr>
            </a:pPr>
            <a:r>
              <a:t>Nobody carries a 500g sticky glass jar.</a:t>
            </a:r>
          </a:p>
        </p:txBody>
      </p:sp>
      <p:pic>
        <p:nvPicPr>
          <p:cNvPr id="4" name="Picture 3" descr="wordmark_raspber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0047" y="6172200"/>
            <a:ext cx="1371600" cy="33558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60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2011680"/>
            <a:ext cx="978408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4400" b="1">
                <a:solidFill>
                  <a:srgbClr val="FFFFFF"/>
                </a:solidFill>
                <a:latin typeface="Manrope"/>
              </a:defRPr>
            </a:pPr>
            <a:r>
              <a:t>The Unmet Need.</a:t>
            </a:r>
          </a:p>
          <a:p>
            <a:pPr>
              <a:spcAft>
                <a:spcPts val="1400"/>
              </a:spcAft>
              <a:defRPr sz="2600" b="1">
                <a:solidFill>
                  <a:srgbClr val="FF467A"/>
                </a:solidFill>
                <a:latin typeface="Manrope"/>
              </a:defRPr>
            </a:pPr>
            <a:r>
              <a:t>Consumers abandon toast for dry cereal bars.</a:t>
            </a:r>
          </a:p>
          <a:p>
            <a:pPr>
              <a:defRPr sz="2200" b="1">
                <a:solidFill>
                  <a:srgbClr val="FFFFFF"/>
                </a:solidFill>
                <a:latin typeface="Manrope"/>
              </a:defRPr>
            </a:pPr>
            <a:r>
              <a:t>Portability has never existed for real breakfast spreads.</a:t>
            </a:r>
          </a:p>
        </p:txBody>
      </p:sp>
      <p:pic>
        <p:nvPicPr>
          <p:cNvPr id="4" name="Picture 3" descr="wordmark_raspber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0047" y="6172200"/>
            <a:ext cx="1371600" cy="33558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A3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822960"/>
            <a:ext cx="9784080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3400" b="1">
                <a:solidFill>
                  <a:srgbClr val="FFFFFF"/>
                </a:solidFill>
                <a:latin typeface="Manrope"/>
              </a:defRPr>
            </a:pPr>
            <a:r>
              <a:t>The Solution.</a:t>
            </a:r>
          </a:p>
          <a:p>
            <a:pPr>
              <a:defRPr sz="2000" b="0">
                <a:solidFill>
                  <a:srgbClr val="FFD640"/>
                </a:solidFill>
                <a:latin typeface="Manrope"/>
              </a:defRPr>
            </a:pPr>
            <a:r>
              <a:t>10 g spread discs on release film.</a:t>
            </a:r>
          </a:p>
        </p:txBody>
      </p:sp>
      <p:pic>
        <p:nvPicPr>
          <p:cNvPr id="4" name="Picture 3" descr="four_packs_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2407" y="2240280"/>
            <a:ext cx="9326880" cy="2866869"/>
          </a:xfrm>
          <a:prstGeom prst="rect">
            <a:avLst/>
          </a:prstGeom>
        </p:spPr>
      </p:pic>
      <p:pic>
        <p:nvPicPr>
          <p:cNvPr id="5" name="Picture 4" descr="wordmark_bu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0047" y="6172200"/>
            <a:ext cx="1371600" cy="33558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A3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2011680"/>
            <a:ext cx="978408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4400" b="1">
                <a:solidFill>
                  <a:srgbClr val="FFFFFF"/>
                </a:solidFill>
                <a:latin typeface="Manrope"/>
              </a:defRPr>
            </a:pPr>
            <a:r>
              <a:t>Zero Cutlery. Pure Physics.</a:t>
            </a:r>
          </a:p>
          <a:p>
            <a:pPr>
              <a:spcAft>
                <a:spcPts val="1400"/>
              </a:spcAft>
              <a:defRPr sz="2600" b="1">
                <a:solidFill>
                  <a:srgbClr val="FFD640"/>
                </a:solidFill>
                <a:latin typeface="Manrope"/>
              </a:defRPr>
            </a:pPr>
            <a:r>
              <a:t>Residual toast heat melts the disc in seconds.</a:t>
            </a:r>
          </a:p>
          <a:p>
            <a:pPr>
              <a:defRPr sz="2000" b="1">
                <a:solidFill>
                  <a:srgbClr val="FFFFFF"/>
                </a:solidFill>
                <a:latin typeface="Manrope"/>
              </a:defRPr>
            </a:pPr>
            <a:r>
              <a:t>Peel off the liner. Press onto hot toast. Zero utensils or mess.</a:t>
            </a:r>
          </a:p>
        </p:txBody>
      </p:sp>
      <p:pic>
        <p:nvPicPr>
          <p:cNvPr id="4" name="Picture 3" descr="wordmark_bu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0047" y="6172200"/>
            <a:ext cx="1371600" cy="33558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A3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2011680"/>
            <a:ext cx="978408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4400" b="1">
                <a:solidFill>
                  <a:srgbClr val="FFFFFF"/>
                </a:solidFill>
                <a:latin typeface="Manrope"/>
              </a:defRPr>
            </a:pPr>
            <a:r>
              <a:t>12-Month Ambient Life.</a:t>
            </a:r>
          </a:p>
          <a:p>
            <a:pPr>
              <a:spcAft>
                <a:spcPts val="1400"/>
              </a:spcAft>
              <a:defRPr sz="2400" b="1">
                <a:solidFill>
                  <a:srgbClr val="FFD640"/>
                </a:solidFill>
                <a:latin typeface="Manrope"/>
              </a:defRPr>
            </a:pPr>
            <a:r>
              <a:t>High-stability emulsification for room temperature.</a:t>
            </a:r>
          </a:p>
          <a:p>
            <a:pPr>
              <a:defRPr sz="2000" b="1">
                <a:solidFill>
                  <a:srgbClr val="FFFFFF"/>
                </a:solidFill>
                <a:latin typeface="Manrope"/>
              </a:defRPr>
            </a:pPr>
            <a:r>
              <a:t>Hermetically sealed 8-stamp card sheets for pantry and bag.</a:t>
            </a:r>
          </a:p>
        </p:txBody>
      </p:sp>
      <p:pic>
        <p:nvPicPr>
          <p:cNvPr id="4" name="Picture 3" descr="wordmark_bu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0047" y="6172200"/>
            <a:ext cx="1371600" cy="33558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E24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1920240"/>
            <a:ext cx="978408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5400" b="1">
                <a:solidFill>
                  <a:srgbClr val="FF8C30"/>
                </a:solidFill>
                <a:latin typeface="Manrope"/>
              </a:defRPr>
            </a:pPr>
            <a:r>
              <a:t>$341M Category</a:t>
            </a:r>
          </a:p>
          <a:p>
            <a:pPr>
              <a:spcAft>
                <a:spcPts val="1200"/>
              </a:spcAft>
              <a:defRPr sz="3600" b="1">
                <a:solidFill>
                  <a:srgbClr val="FFFFFF"/>
                </a:solidFill>
                <a:latin typeface="Manrope"/>
              </a:defRPr>
            </a:pPr>
            <a:r>
              <a:t>New Zealand Spreads Market.</a:t>
            </a:r>
          </a:p>
          <a:p>
            <a:pPr>
              <a:defRPr sz="2000" b="0">
                <a:solidFill>
                  <a:srgbClr val="FF8C30"/>
                </a:solidFill>
                <a:latin typeface="Manrope"/>
              </a:defRPr>
            </a:pPr>
            <a:r>
              <a:t>+24% category revenue growth across 2022–2025.</a:t>
            </a:r>
          </a:p>
        </p:txBody>
      </p:sp>
      <p:pic>
        <p:nvPicPr>
          <p:cNvPr id="4" name="Picture 3" descr="wordmark_pean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0047" y="6172200"/>
            <a:ext cx="1371600" cy="33558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E24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822960"/>
            <a:ext cx="9784080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3400" b="1">
                <a:solidFill>
                  <a:srgbClr val="FFFFFF"/>
                </a:solidFill>
                <a:latin typeface="Manrope"/>
              </a:defRPr>
            </a:pPr>
            <a:r>
              <a:t>Premium Spreads Surging +29%.</a:t>
            </a:r>
          </a:p>
          <a:p>
            <a:pPr>
              <a:defRPr sz="2000" b="0">
                <a:solidFill>
                  <a:srgbClr val="FF8C30"/>
                </a:solidFill>
                <a:latin typeface="Manrope"/>
              </a:defRPr>
            </a:pPr>
            <a:r>
              <a:t>Consumers trading up from commodity tiers into quality formats.</a:t>
            </a:r>
          </a:p>
        </p:txBody>
      </p:sp>
      <p:pic>
        <p:nvPicPr>
          <p:cNvPr id="4" name="Picture 3" descr="chart_tier_pean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8327" y="2148840"/>
            <a:ext cx="6035040" cy="3372522"/>
          </a:xfrm>
          <a:prstGeom prst="rect">
            <a:avLst/>
          </a:prstGeom>
        </p:spPr>
      </p:pic>
      <p:pic>
        <p:nvPicPr>
          <p:cNvPr id="5" name="Picture 4" descr="wordmark_pean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0047" y="6172200"/>
            <a:ext cx="1371600" cy="33558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E24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1920240"/>
            <a:ext cx="978408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5400" b="1">
                <a:solidFill>
                  <a:srgbClr val="FF8C30"/>
                </a:solidFill>
                <a:latin typeface="Manrope"/>
              </a:defRPr>
            </a:pPr>
            <a:r>
              <a:t>0 Rivals</a:t>
            </a:r>
          </a:p>
          <a:p>
            <a:pPr>
              <a:spcAft>
                <a:spcPts val="1200"/>
              </a:spcAft>
              <a:defRPr sz="3600" b="1">
                <a:solidFill>
                  <a:srgbClr val="FFFFFF"/>
                </a:solidFill>
                <a:latin typeface="Manrope"/>
              </a:defRPr>
            </a:pPr>
            <a:r>
              <a:t>Across 154 Supermarket Spreads.</a:t>
            </a:r>
          </a:p>
          <a:p>
            <a:pPr>
              <a:defRPr sz="2000" b="0">
                <a:solidFill>
                  <a:srgbClr val="FF8C30"/>
                </a:solidFill>
                <a:latin typeface="Manrope"/>
              </a:defRPr>
            </a:pPr>
            <a:r>
              <a:t>Zero single-serve or utensil-free formats in NZ retail.</a:t>
            </a:r>
          </a:p>
        </p:txBody>
      </p:sp>
      <p:pic>
        <p:nvPicPr>
          <p:cNvPr id="4" name="Picture 3" descr="wordmark_pean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0047" y="6172200"/>
            <a:ext cx="1371600" cy="33558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E24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1920240"/>
            <a:ext cx="978408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5400" b="1">
                <a:solidFill>
                  <a:srgbClr val="FF8C30"/>
                </a:solidFill>
                <a:latin typeface="Manrope"/>
              </a:defRPr>
            </a:pPr>
            <a:r>
              <a:t>35% Gross Margin</a:t>
            </a:r>
          </a:p>
          <a:p>
            <a:pPr>
              <a:spcAft>
                <a:spcPts val="1200"/>
              </a:spcAft>
              <a:defRPr sz="3600" b="1">
                <a:solidFill>
                  <a:srgbClr val="FFFFFF"/>
                </a:solidFill>
                <a:latin typeface="Manrope"/>
              </a:defRPr>
            </a:pPr>
            <a:r>
              <a:t>$5.00 Retail • $1.75 Margin per Pack.</a:t>
            </a:r>
          </a:p>
          <a:p>
            <a:pPr>
              <a:defRPr sz="2000" b="0">
                <a:solidFill>
                  <a:srgbClr val="FF8C30"/>
                </a:solidFill>
                <a:latin typeface="Manrope"/>
              </a:defRPr>
            </a:pPr>
            <a:r>
              <a:t>63¢ per serving on an assumed $1.50 contract packaging cost.</a:t>
            </a:r>
          </a:p>
        </p:txBody>
      </p:sp>
      <p:pic>
        <p:nvPicPr>
          <p:cNvPr id="4" name="Picture 3" descr="wordmark_pean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0047" y="6172200"/>
            <a:ext cx="1371600" cy="33558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A3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822960"/>
            <a:ext cx="9784080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3400" b="1">
                <a:solidFill>
                  <a:srgbClr val="FFFFFF"/>
                </a:solidFill>
                <a:latin typeface="Manrope"/>
              </a:defRPr>
            </a:pPr>
            <a:r>
              <a:t>Contract Co-Manufacturing.</a:t>
            </a:r>
          </a:p>
          <a:p>
            <a:pPr>
              <a:defRPr sz="2000" b="0">
                <a:solidFill>
                  <a:srgbClr val="FFD640"/>
                </a:solidFill>
                <a:latin typeface="Manrope"/>
              </a:defRPr>
            </a:pPr>
            <a:r>
              <a:t>Continuous deposit tooling onto food-grade release liner.</a:t>
            </a:r>
          </a:p>
        </p:txBody>
      </p:sp>
      <p:pic>
        <p:nvPicPr>
          <p:cNvPr id="4" name="Picture 3" descr="diagram_process_bu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8247" y="2286000"/>
            <a:ext cx="7315200" cy="2854712"/>
          </a:xfrm>
          <a:prstGeom prst="rect">
            <a:avLst/>
          </a:prstGeom>
        </p:spPr>
      </p:pic>
      <p:pic>
        <p:nvPicPr>
          <p:cNvPr id="5" name="Picture 4" descr="wordmark_bu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0047" y="6172200"/>
            <a:ext cx="1371600" cy="33558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A3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2011680"/>
            <a:ext cx="978408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4400" b="1">
                <a:solidFill>
                  <a:srgbClr val="FFFFFF"/>
                </a:solidFill>
                <a:latin typeface="Manrope"/>
              </a:defRPr>
            </a:pPr>
            <a:r>
              <a:t>Lean Capex Pilot.</a:t>
            </a:r>
          </a:p>
          <a:p>
            <a:pPr>
              <a:spcAft>
                <a:spcPts val="1400"/>
              </a:spcAft>
              <a:defRPr sz="2400" b="1">
                <a:solidFill>
                  <a:srgbClr val="FFD640"/>
                </a:solidFill>
                <a:latin typeface="Manrope"/>
              </a:defRPr>
            </a:pPr>
            <a:r>
              <a:t>Partnering with Auckland contract food packagers.</a:t>
            </a:r>
          </a:p>
          <a:p>
            <a:pPr>
              <a:defRPr sz="2000" b="1">
                <a:solidFill>
                  <a:srgbClr val="FFFFFF"/>
                </a:solidFill>
                <a:latin typeface="Manrope"/>
              </a:defRPr>
            </a:pPr>
            <a:r>
              <a:t>Zero heavy machinery outlay required for market entry.</a:t>
            </a:r>
          </a:p>
        </p:txBody>
      </p:sp>
      <p:pic>
        <p:nvPicPr>
          <p:cNvPr id="4" name="Picture 3" descr="wordmark_bu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0047" y="6172200"/>
            <a:ext cx="1371600" cy="33558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60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2011680"/>
            <a:ext cx="978408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FF467A"/>
                </a:solidFill>
                <a:latin typeface="Manrope"/>
              </a:defRPr>
            </a:pPr>
            <a:r>
              <a:t>Negative Constraints.</a:t>
            </a:r>
          </a:p>
          <a:p>
            <a:pPr>
              <a:spcAft>
                <a:spcPts val="1400"/>
              </a:spcAft>
              <a:defRPr sz="4600" b="1">
                <a:solidFill>
                  <a:srgbClr val="FFFFFF"/>
                </a:solidFill>
                <a:latin typeface="Manrope"/>
              </a:defRPr>
            </a:pPr>
            <a:r>
              <a:t>Banning AI Marketing Hype.</a:t>
            </a:r>
          </a:p>
          <a:p>
            <a:pPr>
              <a:defRPr sz="2200" b="0">
                <a:solidFill>
                  <a:srgbClr val="FF467A"/>
                </a:solidFill>
                <a:latin typeface="Manrope"/>
              </a:defRPr>
            </a:pPr>
            <a:r>
              <a:t>Explicit negative prompts barred fake badges and health claims.</a:t>
            </a:r>
          </a:p>
        </p:txBody>
      </p:sp>
      <p:pic>
        <p:nvPicPr>
          <p:cNvPr id="4" name="Picture 3" descr="wordmark_raspber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0047" y="6172200"/>
            <a:ext cx="1371600" cy="33558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60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2377440"/>
            <a:ext cx="978408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4600" b="1">
                <a:solidFill>
                  <a:srgbClr val="FFFFFF"/>
                </a:solidFill>
                <a:latin typeface="Manrope"/>
              </a:defRPr>
            </a:pPr>
            <a:r>
              <a:t>Modular Architecture.</a:t>
            </a:r>
          </a:p>
          <a:p>
            <a:pPr>
              <a:spcAft>
                <a:spcPts val="1400"/>
              </a:spcAft>
              <a:defRPr sz="2400" b="1">
                <a:solidFill>
                  <a:srgbClr val="FF467A"/>
                </a:solidFill>
                <a:latin typeface="Manrope"/>
              </a:defRPr>
            </a:pPr>
            <a:r>
              <a:t>Separating data, branding, and copy eliminated context drift.</a:t>
            </a:r>
          </a:p>
        </p:txBody>
      </p:sp>
      <p:pic>
        <p:nvPicPr>
          <p:cNvPr id="4" name="Picture 3" descr="wordmark_raspber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0047" y="6172200"/>
            <a:ext cx="1371600" cy="335584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60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2011680"/>
            <a:ext cx="978408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4400" b="1">
                <a:solidFill>
                  <a:srgbClr val="FFFFFF"/>
                </a:solidFill>
                <a:latin typeface="Manrope"/>
              </a:defRPr>
            </a:pPr>
            <a:r>
              <a:t>Catching Dairy Instability.</a:t>
            </a:r>
          </a:p>
          <a:p>
            <a:pPr>
              <a:spcAft>
                <a:spcPts val="1400"/>
              </a:spcAft>
              <a:defRPr sz="2600" b="1">
                <a:solidFill>
                  <a:srgbClr val="FF467A"/>
                </a:solidFill>
                <a:latin typeface="Manrope"/>
              </a:defRPr>
            </a:pPr>
            <a:r>
              <a:t>AI assumed table butter could sit ambiently.</a:t>
            </a:r>
          </a:p>
          <a:p>
            <a:pPr>
              <a:defRPr sz="2200" b="1">
                <a:solidFill>
                  <a:srgbClr val="FFFFFF"/>
                </a:solidFill>
                <a:latin typeface="Manrope"/>
              </a:defRPr>
            </a:pPr>
            <a:r>
              <a:t>Human intervention forced high-stability emulsion.</a:t>
            </a:r>
          </a:p>
        </p:txBody>
      </p:sp>
      <p:pic>
        <p:nvPicPr>
          <p:cNvPr id="4" name="Picture 3" descr="wordmark_raspber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0047" y="6172200"/>
            <a:ext cx="1371600" cy="335584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60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2377440"/>
            <a:ext cx="978408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4400" b="1">
                <a:solidFill>
                  <a:srgbClr val="FFFFFF"/>
                </a:solidFill>
                <a:latin typeface="Manrope"/>
              </a:defRPr>
            </a:pPr>
            <a:r>
              <a:t>AI as Drafter, Not Director.</a:t>
            </a:r>
          </a:p>
          <a:p>
            <a:pPr>
              <a:spcAft>
                <a:spcPts val="1400"/>
              </a:spcAft>
              <a:defRPr sz="2400" b="1">
                <a:solidFill>
                  <a:srgbClr val="FF467A"/>
                </a:solidFill>
                <a:latin typeface="Manrope"/>
              </a:defRPr>
            </a:pPr>
            <a:r>
              <a:t>Auditing raw scan outliers and verifying live supermarket shelves.</a:t>
            </a:r>
          </a:p>
        </p:txBody>
      </p:sp>
      <p:pic>
        <p:nvPicPr>
          <p:cNvPr id="4" name="Picture 3" descr="wordmark_raspber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0047" y="6172200"/>
            <a:ext cx="1371600" cy="335584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0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2011680"/>
            <a:ext cx="978408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4600" b="1">
                <a:solidFill>
                  <a:srgbClr val="FFFFFF"/>
                </a:solidFill>
                <a:latin typeface="Manrope"/>
              </a:defRPr>
            </a:pPr>
            <a:r>
              <a:t>Combating AI Slop.</a:t>
            </a:r>
          </a:p>
          <a:p>
            <a:pPr>
              <a:spcAft>
                <a:spcPts val="1400"/>
              </a:spcAft>
              <a:defRPr sz="2600" b="1">
                <a:solidFill>
                  <a:srgbClr val="E24BFF"/>
                </a:solidFill>
                <a:latin typeface="Manrope"/>
              </a:defRPr>
            </a:pPr>
            <a:r>
              <a:t>Stripping corporate buzzwords for plain human facts.</a:t>
            </a:r>
          </a:p>
          <a:p>
            <a:pPr>
              <a:defRPr sz="2400" b="1">
                <a:solidFill>
                  <a:srgbClr val="FFFFFF"/>
                </a:solidFill>
                <a:latin typeface="Manrope"/>
              </a:defRPr>
            </a:pPr>
            <a:r>
              <a:t>Peel. Press. Toast.</a:t>
            </a:r>
          </a:p>
        </p:txBody>
      </p:sp>
      <p:pic>
        <p:nvPicPr>
          <p:cNvPr id="4" name="Picture 3" descr="wordmark_ye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0047" y="6172200"/>
            <a:ext cx="1371600" cy="335584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0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2377440"/>
            <a:ext cx="978408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4600" b="1">
                <a:solidFill>
                  <a:srgbClr val="FFFFFF"/>
                </a:solidFill>
                <a:latin typeface="Manrope"/>
              </a:defRPr>
            </a:pPr>
            <a:r>
              <a:t>Zero Hallucination Tolerance.</a:t>
            </a:r>
          </a:p>
          <a:p>
            <a:pPr>
              <a:spcAft>
                <a:spcPts val="1400"/>
              </a:spcAft>
              <a:defRPr sz="2400" b="1">
                <a:solidFill>
                  <a:srgbClr val="E24BFF"/>
                </a:solidFill>
                <a:latin typeface="Manrope"/>
              </a:defRPr>
            </a:pPr>
            <a:r>
              <a:t>Strict FSANZ food laws and mandatory allergen warnings.</a:t>
            </a:r>
          </a:p>
        </p:txBody>
      </p:sp>
      <p:pic>
        <p:nvPicPr>
          <p:cNvPr id="4" name="Picture 3" descr="wordmark_ye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0047" y="6172200"/>
            <a:ext cx="1371600" cy="335584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0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2377440"/>
            <a:ext cx="978408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4600" b="1">
                <a:solidFill>
                  <a:srgbClr val="FFFFFF"/>
                </a:solidFill>
                <a:latin typeface="Manrope"/>
              </a:defRPr>
            </a:pPr>
            <a:r>
              <a:t>Accountability Remains Human.</a:t>
            </a:r>
          </a:p>
          <a:p>
            <a:pPr>
              <a:spcAft>
                <a:spcPts val="1400"/>
              </a:spcAft>
              <a:defRPr sz="2400" b="1">
                <a:solidFill>
                  <a:srgbClr val="E24BFF"/>
                </a:solidFill>
                <a:latin typeface="Manrope"/>
              </a:defRPr>
            </a:pPr>
            <a:r>
              <a:t>Moral, regulatory, and commercial ownership cannot be outsourced.</a:t>
            </a:r>
          </a:p>
        </p:txBody>
      </p:sp>
      <p:pic>
        <p:nvPicPr>
          <p:cNvPr id="4" name="Picture 3" descr="wordmark_ye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0047" y="6172200"/>
            <a:ext cx="1371600" cy="33558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