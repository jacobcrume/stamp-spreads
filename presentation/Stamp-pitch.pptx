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(0:00–0:07)</a:t>
            </a:r>
          </a:p>
          <a:p>
            <a:r>
              <a:t>Kia ora. I'm Jacob, and this is Stamp: a New Zealand breakfast spread innovation engineered for hot toast.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(0:07–0:13)</a:t>
            </a:r>
          </a:p>
          <a:p>
            <a:r>
              <a:t>Eating toast away from a full residential kitchen is fundamentally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FAILS (0:13–0:19)</a:t>
            </a:r>
          </a:p>
          <a:p>
            <a:r>
              <a:t>In a university hall, shared flat, or office desk, nobody wants to lug a sticky jar and hunt for a knife.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OFFICE FRICTION (0:19–0:25)</a:t>
            </a:r>
          </a:p>
          <a:p>
            <a:r>
              <a:t>Shared communal spreads lead to cross-contamination, crumbs in the butter, and abandoned sink mess.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UNMET NEED (0:25–0:31)</a:t>
            </a:r>
          </a:p>
          <a:p>
            <a:r>
              <a:t>Because jars are tethered to kitchens, consumers compromise on dry bars or skip breakfast altogether.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(0:31–0:37)</a:t>
            </a:r>
          </a:p>
          <a:p>
            <a:r>
              <a:t>Stamp reinvents the format with a calibrated 10-gram disc of real spread on release film.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PHYSICS (0:37–0:44)</a:t>
            </a:r>
          </a:p>
          <a:p>
            <a:r>
              <a:t>You press the disc onto fresh toast, and residual thermal energy melts it evenly without a knife.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FLAVOUR RANGE (0:44–0:50)</a:t>
            </a:r>
          </a:p>
          <a:p>
            <a:r>
              <a:t>Four iconic kiwi flavours in an 8-stamp card sheet, offering instant single-serve variety.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AMBIENT STABILITY (0:50–0:56)</a:t>
            </a:r>
          </a:p>
          <a:p>
            <a:r>
              <a:t>Formulated for room-temperature pantry and bag storage with full 12-month shelf stability.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SCALE (0:56–1:03)</a:t>
            </a:r>
          </a:p>
          <a:p>
            <a:r>
              <a:t>Cleaned supermarket scan data reveals New Zealand spreads expanded 24% to a 341 million dollar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PREMIUM SURGE (1:03–1:11)</a:t>
            </a:r>
          </a:p>
          <a:p>
            <a:r>
              <a:t>Premium branded spreads surged 29% to 113 million dollars, massively outpacing commodity 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COMPETITIVE VOID (1:11–1:18)</a:t>
            </a:r>
          </a:p>
          <a:p>
            <a:r>
              <a:t>Across 154 supermarket spreads, every single product is a jar. Not one offers a utensil-free portion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PRICE POSITIONING (1:18–1:26)</a:t>
            </a:r>
          </a:p>
          <a:p>
            <a:r>
              <a:t>At $5.00 for an 8-pack, Stamp commands $6.25 per 100g—positioning neatly into the premium whitespace.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ECONOMICS (1:26–1:33)</a:t>
            </a:r>
          </a:p>
          <a:p>
            <a:r>
              <a:t>At 63 cents per serving, we maintain a robust $1.75 gross margin to fund rapid marketing and retail scaling.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MANUFACTURING (1:33–1:41)</a:t>
            </a:r>
          </a:p>
          <a:p>
            <a:r>
              <a:t>Production leverages existing contract rotary-die deposition lines, eliminating custom factory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LEAN PILOT (1:41–1:47)</a:t>
            </a:r>
          </a:p>
          <a:p>
            <a:r>
              <a:t>By partnering with established contract packers in Auckland, we validate consumer demand with minimal capex.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CONSTRAINTS (1:47–1:55)</a:t>
            </a:r>
          </a:p>
          <a:p>
            <a:r>
              <a:t>In steering AI, I enforced strict negative prompt constraints against fake certification badges and medical health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(1:55–2:03)</a:t>
            </a:r>
          </a:p>
          <a:p>
            <a:r>
              <a:t>I partitioned distinct sessions for data cleaning, branding, and copy to prevent context rot and hallucinated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TURNING POINT (2:03–2:11)</a:t>
            </a:r>
          </a:p>
          <a:p>
            <a:r>
              <a:t>My pivotal turning point was catching an unrealistic AI claim that dairy butter could sit ambiently without spoilage.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VERIFICATION (2:11–2:19)</a:t>
            </a:r>
          </a:p>
          <a:p>
            <a:r>
              <a:t>I audited raw scan data outliers and manually verified shelf prices on New World instead of trusting model summaries.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AUTHENTICITY (2:19–2:27)</a:t>
            </a:r>
          </a:p>
          <a:p>
            <a:r>
              <a:t>To combat AI slop, I stripped corporate clichés and grounded packaging in real continuous deposit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REGULATION (2:27–2:35)</a:t>
            </a:r>
          </a:p>
          <a:p>
            <a:r>
              <a:t>In food and beverage, AI hallucinations are a severe legal hazard. I enforced strict FSANZ compliance and allergen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ETHICS &amp; WRAP (2:35–2:45)</a:t>
            </a:r>
          </a:p>
          <a:p>
            <a:r>
              <a:t>Generative AI accelerates velocity, but human skepticism, taste, discernment, and moral ownership remain essential.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7" y="2103120"/>
            <a:ext cx="5303520" cy="12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720693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24BFF"/>
                </a:solidFill>
                <a:latin typeface="Manrope"/>
              </a:defRPr>
            </a:pPr>
            <a:r>
              <a:t>PEEL. PRESS. TOAST.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852160"/>
            <a:ext cx="9448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FFFFFF"/>
                </a:solidFill>
                <a:latin typeface="Manrope"/>
              </a:defRPr>
            </a:pPr>
            <a:r>
              <a:t>Commercial Business 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F467A"/>
                </a:solidFill>
                <a:latin typeface="Manrope"/>
              </a:defRPr>
            </a:pPr>
            <a:r>
              <a:t>The Problem</a:t>
            </a:r>
          </a:p>
          <a:p>
            <a:pPr>
              <a:spcAft>
                <a:spcPts val="14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Jars Require Infrastructure.</a:t>
            </a:r>
          </a:p>
          <a:p>
            <a:pPr>
              <a:defRPr sz="2200" b="0">
                <a:solidFill>
                  <a:srgbClr val="FF467A"/>
                </a:solidFill>
                <a:latin typeface="Manrope"/>
              </a:defRPr>
            </a:pPr>
            <a:r>
              <a:t>Table knives, kitchen benches, and hot running water.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Eating Away from Home is Broken.</a:t>
            </a:r>
          </a:p>
          <a:p>
            <a:pPr>
              <a:spcAft>
                <a:spcPts val="1400"/>
              </a:spcAft>
              <a:defRPr sz="2600" b="1">
                <a:solidFill>
                  <a:srgbClr val="FF467A"/>
                </a:solidFill>
                <a:latin typeface="Manrope"/>
              </a:defRPr>
            </a:pPr>
            <a:r>
              <a:t>Desk workers, commuters, and students in dorms.</a:t>
            </a:r>
          </a:p>
          <a:p>
            <a:pPr>
              <a:defRPr sz="2200" b="1">
                <a:solidFill>
                  <a:srgbClr val="FFFFFF"/>
                </a:solidFill>
                <a:latin typeface="Manrope"/>
              </a:defRPr>
            </a:pPr>
            <a:r>
              <a:t>Nobody carries a 500g sticky glass jar.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The 3-Minute Office Friction.</a:t>
            </a:r>
          </a:p>
          <a:p>
            <a:pPr>
              <a:spcAft>
                <a:spcPts val="1400"/>
              </a:spcAft>
              <a:defRPr sz="2400" b="1">
                <a:solidFill>
                  <a:srgbClr val="FF467A"/>
                </a:solidFill>
                <a:latin typeface="Manrope"/>
              </a:defRPr>
            </a:pPr>
            <a:r>
              <a:t>Sticky handles, cross-contaminated butter, unwashed sinks.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The Unmet Need.</a:t>
            </a:r>
          </a:p>
          <a:p>
            <a:pPr>
              <a:spcAft>
                <a:spcPts val="1400"/>
              </a:spcAft>
              <a:defRPr sz="2600" b="1">
                <a:solidFill>
                  <a:srgbClr val="FF467A"/>
                </a:solidFill>
                <a:latin typeface="Manrope"/>
              </a:defRPr>
            </a:pPr>
            <a:r>
              <a:t>Consumers abandon toast for dry cereal bars.</a:t>
            </a:r>
          </a:p>
          <a:p>
            <a:pPr>
              <a:defRPr sz="2200" b="1">
                <a:solidFill>
                  <a:srgbClr val="FFFFFF"/>
                </a:solidFill>
                <a:latin typeface="Manrope"/>
              </a:defRPr>
            </a:pPr>
            <a:r>
              <a:t>Portability has never existed for real breakfast spreads.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FD640"/>
                </a:solidFill>
                <a:latin typeface="Manrope"/>
              </a:defRPr>
            </a:pPr>
            <a:r>
              <a:t>The Solution</a:t>
            </a:r>
          </a:p>
          <a:p>
            <a:pPr>
              <a:spcAft>
                <a:spcPts val="14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10 g Spread Disc on Release Film.</a:t>
            </a:r>
          </a:p>
          <a:p>
            <a:pPr>
              <a:defRPr sz="2400" b="0">
                <a:solidFill>
                  <a:srgbClr val="FFD640"/>
                </a:solidFill>
                <a:latin typeface="Manrope"/>
              </a:defRPr>
            </a:pPr>
            <a:r>
              <a:t>Peel it off. Press onto hot toast.</a:t>
            </a:r>
          </a:p>
        </p:txBody>
      </p:sp>
      <p:pic>
        <p:nvPicPr>
          <p:cNvPr id="4" name="Picture 3" descr="wordmark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828800"/>
            <a:ext cx="64008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4400" b="1">
                <a:solidFill>
                  <a:srgbClr val="FFFFFF"/>
                </a:solidFill>
                <a:latin typeface="Manrope"/>
              </a:defRPr>
            </a:pPr>
            <a:r>
              <a:t>Zero Cutlery. Pure Physics.</a:t>
            </a:r>
          </a:p>
          <a:p>
            <a:pPr>
              <a:spcAft>
                <a:spcPts val="1400"/>
              </a:spcAft>
              <a:defRPr sz="2400" b="1">
                <a:solidFill>
                  <a:srgbClr val="FFD640"/>
                </a:solidFill>
                <a:latin typeface="Manrope"/>
              </a:defRPr>
            </a:pPr>
            <a:r>
              <a:t>Residual heat melts the disc in seconds.</a:t>
            </a:r>
          </a:p>
          <a:p>
            <a:pPr>
              <a:defRPr sz="2000" b="0">
                <a:solidFill>
                  <a:srgbClr val="FFFFFF"/>
                </a:solidFill>
                <a:latin typeface="Manrope"/>
              </a:defRPr>
            </a:pPr>
            <a:r>
              <a:t>10 g portion on food-grade release liner.</a:t>
            </a:r>
          </a:p>
        </p:txBody>
      </p:sp>
      <p:pic>
        <p:nvPicPr>
          <p:cNvPr id="4" name="Picture 3" descr="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280160"/>
            <a:ext cx="3108960" cy="4142232"/>
          </a:xfrm>
          <a:prstGeom prst="rect">
            <a:avLst/>
          </a:prstGeom>
        </p:spPr>
      </p:pic>
      <p:pic>
        <p:nvPicPr>
          <p:cNvPr id="5" name="Picture 4" descr="wordmark_bu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Four Signature NZ Flavours.</a:t>
            </a:r>
          </a:p>
          <a:p>
            <a:pPr>
              <a:spcAft>
                <a:spcPts val="1400"/>
              </a:spcAft>
              <a:defRPr sz="2600" b="1">
                <a:solidFill>
                  <a:srgbClr val="FFD640"/>
                </a:solidFill>
                <a:latin typeface="Manrope"/>
              </a:defRPr>
            </a:pPr>
            <a:r>
              <a:t>Salted Butter • Raspberry • Yeast • Peanut</a:t>
            </a:r>
          </a:p>
        </p:txBody>
      </p:sp>
      <p:pic>
        <p:nvPicPr>
          <p:cNvPr id="4" name="Picture 3" descr="wordmark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12-Month Ambient Life.</a:t>
            </a:r>
          </a:p>
          <a:p>
            <a:pPr>
              <a:spcAft>
                <a:spcPts val="1400"/>
              </a:spcAft>
              <a:defRPr sz="2400" b="1">
                <a:solidFill>
                  <a:srgbClr val="FFD640"/>
                </a:solidFill>
                <a:latin typeface="Manrope"/>
              </a:defRPr>
            </a:pPr>
            <a:r>
              <a:t>High-stability emulsification engineered for room temperature.</a:t>
            </a:r>
          </a:p>
          <a:p>
            <a:pPr>
              <a:defRPr sz="2200" b="1">
                <a:solidFill>
                  <a:srgbClr val="FFFFFF"/>
                </a:solidFill>
                <a:latin typeface="Manrope"/>
              </a:defRPr>
            </a:pPr>
            <a:r>
              <a:t>Zero refrigeration required.</a:t>
            </a:r>
          </a:p>
        </p:txBody>
      </p:sp>
      <p:pic>
        <p:nvPicPr>
          <p:cNvPr id="4" name="Picture 3" descr="wordmark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645920"/>
            <a:ext cx="97840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8000" b="1">
                <a:solidFill>
                  <a:srgbClr val="FF8C30"/>
                </a:solidFill>
                <a:latin typeface="Manrope"/>
              </a:defRPr>
            </a:pPr>
            <a:r>
              <a:t>$341M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New Zealand Spreads Category.</a:t>
            </a:r>
          </a:p>
          <a:p>
            <a:pPr>
              <a:defRPr sz="2200" b="0">
                <a:solidFill>
                  <a:srgbClr val="FF8C30"/>
                </a:solidFill>
                <a:latin typeface="Manrope"/>
              </a:defRPr>
            </a:pPr>
            <a:r>
              <a:t>+24% category revenue growth across 2022–2025.</a:t>
            </a:r>
          </a:p>
        </p:txBody>
      </p:sp>
      <p:pic>
        <p:nvPicPr>
          <p:cNvPr id="4" name="Picture 3" descr="wordmark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822960"/>
            <a:ext cx="97840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  <a:latin typeface="Manrope"/>
              </a:defRPr>
            </a:pPr>
            <a:r>
              <a:t>Premium Spreads Surging +29%.</a:t>
            </a:r>
          </a:p>
          <a:p>
            <a:pPr>
              <a:defRPr sz="2000" b="0">
                <a:solidFill>
                  <a:srgbClr val="FF8C30"/>
                </a:solidFill>
                <a:latin typeface="Manrope"/>
              </a:defRPr>
            </a:pPr>
            <a:r>
              <a:t>Expanding from $88M to $113M NZD as consumers trade up into quality.</a:t>
            </a:r>
          </a:p>
        </p:txBody>
      </p:sp>
      <p:pic>
        <p:nvPicPr>
          <p:cNvPr id="4" name="Picture 3" descr="chart_tier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327" y="2148840"/>
            <a:ext cx="6035040" cy="3372522"/>
          </a:xfrm>
          <a:prstGeom prst="rect">
            <a:avLst/>
          </a:prstGeom>
        </p:spPr>
      </p:pic>
      <p:pic>
        <p:nvPicPr>
          <p:cNvPr id="5" name="Picture 4" descr="wordmark_pea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645920"/>
            <a:ext cx="97840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8000" b="1">
                <a:solidFill>
                  <a:srgbClr val="FF8C30"/>
                </a:solidFill>
                <a:latin typeface="Manrope"/>
              </a:defRPr>
            </a:pPr>
            <a:r>
              <a:t>0 Rivals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Across 154 Supermarket Spreads.</a:t>
            </a:r>
          </a:p>
          <a:p>
            <a:pPr>
              <a:defRPr sz="2200" b="0">
                <a:solidFill>
                  <a:srgbClr val="FF8C30"/>
                </a:solidFill>
                <a:latin typeface="Manrope"/>
              </a:defRPr>
            </a:pPr>
            <a:r>
              <a:t>Zero single-serve or utensil-free formats in NZ retail.</a:t>
            </a:r>
          </a:p>
        </p:txBody>
      </p:sp>
      <p:pic>
        <p:nvPicPr>
          <p:cNvPr id="4" name="Picture 3" descr="wordmark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822960"/>
            <a:ext cx="97840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  <a:latin typeface="Manrope"/>
              </a:defRPr>
            </a:pPr>
            <a:r>
              <a:t>Capturing the Premium Void.</a:t>
            </a:r>
          </a:p>
          <a:p>
            <a:pPr>
              <a:defRPr sz="2000" b="0">
                <a:solidFill>
                  <a:srgbClr val="FF8C30"/>
                </a:solidFill>
                <a:latin typeface="Manrope"/>
              </a:defRPr>
            </a:pPr>
            <a:r>
              <a:t>Targeted at $5.00 per 8-pack ($6.25/100g) against premium jars.</a:t>
            </a:r>
          </a:p>
        </p:txBody>
      </p:sp>
      <p:pic>
        <p:nvPicPr>
          <p:cNvPr id="4" name="Picture 3" descr="chart_price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327" y="2148840"/>
            <a:ext cx="6035040" cy="3372522"/>
          </a:xfrm>
          <a:prstGeom prst="rect">
            <a:avLst/>
          </a:prstGeom>
        </p:spPr>
      </p:pic>
      <p:pic>
        <p:nvPicPr>
          <p:cNvPr id="5" name="Picture 4" descr="wordmark_pea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E2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645920"/>
            <a:ext cx="97840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8000" b="1">
                <a:solidFill>
                  <a:srgbClr val="FF8C30"/>
                </a:solidFill>
                <a:latin typeface="Manrope"/>
              </a:defRPr>
            </a:pPr>
            <a:r>
              <a:t>35% Margin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  <a:latin typeface="Manrope"/>
              </a:defRPr>
            </a:pPr>
            <a:r>
              <a:t>$5.00 Retail • $1.75 Gross Margin.</a:t>
            </a:r>
          </a:p>
          <a:p>
            <a:pPr>
              <a:defRPr sz="2200" b="0">
                <a:solidFill>
                  <a:srgbClr val="FF8C30"/>
                </a:solidFill>
                <a:latin typeface="Manrope"/>
              </a:defRPr>
            </a:pPr>
            <a:r>
              <a:t>63¢ per serving on an assumed $1.50 co-packing cost.</a:t>
            </a:r>
          </a:p>
        </p:txBody>
      </p:sp>
      <p:pic>
        <p:nvPicPr>
          <p:cNvPr id="4" name="Picture 3" descr="wordmark_pea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822960"/>
            <a:ext cx="97840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  <a:latin typeface="Manrope"/>
              </a:defRPr>
            </a:pPr>
            <a:r>
              <a:t>Contract Co-Manufacturing.</a:t>
            </a:r>
          </a:p>
          <a:p>
            <a:pPr>
              <a:defRPr sz="2000" b="0">
                <a:solidFill>
                  <a:srgbClr val="FFD640"/>
                </a:solidFill>
                <a:latin typeface="Manrope"/>
              </a:defRPr>
            </a:pPr>
            <a:r>
              <a:t>Continuous deposit tooling onto food-grade release liner.</a:t>
            </a:r>
          </a:p>
        </p:txBody>
      </p:sp>
      <p:pic>
        <p:nvPicPr>
          <p:cNvPr id="4" name="Picture 3" descr="diagram_process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2286000"/>
            <a:ext cx="7315200" cy="2854712"/>
          </a:xfrm>
          <a:prstGeom prst="rect">
            <a:avLst/>
          </a:prstGeom>
        </p:spPr>
      </p:pic>
      <p:pic>
        <p:nvPicPr>
          <p:cNvPr id="5" name="Picture 4" descr="wordmark_bu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Lean Capex Pilot.</a:t>
            </a:r>
          </a:p>
          <a:p>
            <a:pPr>
              <a:spcAft>
                <a:spcPts val="1400"/>
              </a:spcAft>
              <a:defRPr sz="2400" b="1">
                <a:solidFill>
                  <a:srgbClr val="FFD640"/>
                </a:solidFill>
                <a:latin typeface="Manrope"/>
              </a:defRPr>
            </a:pPr>
            <a:r>
              <a:t>Partnering with Auckland contract food packagers.</a:t>
            </a:r>
          </a:p>
          <a:p>
            <a:pPr>
              <a:defRPr sz="2200" b="1">
                <a:solidFill>
                  <a:srgbClr val="FFFFFF"/>
                </a:solidFill>
                <a:latin typeface="Manrope"/>
              </a:defRPr>
            </a:pPr>
            <a:r>
              <a:t>Zero heavy machinery outlay required for market entry.</a:t>
            </a:r>
          </a:p>
        </p:txBody>
      </p:sp>
      <p:pic>
        <p:nvPicPr>
          <p:cNvPr id="4" name="Picture 3" descr="wordmark_bu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FF467A"/>
                </a:solidFill>
                <a:latin typeface="Manrope"/>
              </a:defRPr>
            </a:pPr>
            <a:r>
              <a:t>Negative Constraints.</a:t>
            </a:r>
          </a:p>
          <a:p>
            <a:pPr>
              <a:spcAft>
                <a:spcPts val="14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Banning AI Marketing Hype.</a:t>
            </a:r>
          </a:p>
          <a:p>
            <a:pPr>
              <a:defRPr sz="2200" b="0">
                <a:solidFill>
                  <a:srgbClr val="FF467A"/>
                </a:solidFill>
                <a:latin typeface="Manrope"/>
              </a:defRPr>
            </a:pPr>
            <a:r>
              <a:t>Explicit negative prompts barred fake badges and health claims.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Modular Architecture.</a:t>
            </a:r>
          </a:p>
          <a:p>
            <a:pPr>
              <a:spcAft>
                <a:spcPts val="1400"/>
              </a:spcAft>
              <a:defRPr sz="2400" b="1">
                <a:solidFill>
                  <a:srgbClr val="FF467A"/>
                </a:solidFill>
                <a:latin typeface="Manrope"/>
              </a:defRPr>
            </a:pPr>
            <a:r>
              <a:t>Separating data, branding, and copy eliminated context drift.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Catching Dairy Instability.</a:t>
            </a:r>
          </a:p>
          <a:p>
            <a:pPr>
              <a:spcAft>
                <a:spcPts val="1400"/>
              </a:spcAft>
              <a:defRPr sz="2600" b="1">
                <a:solidFill>
                  <a:srgbClr val="FF467A"/>
                </a:solidFill>
                <a:latin typeface="Manrope"/>
              </a:defRPr>
            </a:pPr>
            <a:r>
              <a:t>AI assumed table butter could sit ambiently.</a:t>
            </a:r>
          </a:p>
          <a:p>
            <a:pPr>
              <a:defRPr sz="2200" b="1">
                <a:solidFill>
                  <a:srgbClr val="FFFFFF"/>
                </a:solidFill>
                <a:latin typeface="Manrope"/>
              </a:defRPr>
            </a:pPr>
            <a:r>
              <a:t>Human intervention forced high-stability emulsion.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60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600" b="1">
                <a:solidFill>
                  <a:srgbClr val="FFFFFF"/>
                </a:solidFill>
                <a:latin typeface="Manrope"/>
              </a:defRPr>
            </a:pPr>
            <a:r>
              <a:t>AI as Drafter, Not Director.</a:t>
            </a:r>
          </a:p>
          <a:p>
            <a:pPr>
              <a:spcAft>
                <a:spcPts val="1400"/>
              </a:spcAft>
              <a:defRPr sz="2400" b="1">
                <a:solidFill>
                  <a:srgbClr val="FF467A"/>
                </a:solidFill>
                <a:latin typeface="Manrope"/>
              </a:defRPr>
            </a:pPr>
            <a:r>
              <a:t>Auditing raw scan outliers and verifying live supermarket shelves.</a:t>
            </a:r>
          </a:p>
        </p:txBody>
      </p:sp>
      <p:pic>
        <p:nvPicPr>
          <p:cNvPr id="4" name="Picture 3" descr="wordmark_raspber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01168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Combating AI Slop.</a:t>
            </a:r>
          </a:p>
          <a:p>
            <a:pPr>
              <a:spcAft>
                <a:spcPts val="1400"/>
              </a:spcAft>
              <a:defRPr sz="2600" b="1">
                <a:solidFill>
                  <a:srgbClr val="E24BFF"/>
                </a:solidFill>
                <a:latin typeface="Manrope"/>
              </a:defRPr>
            </a:pPr>
            <a:r>
              <a:t>Stripping corporate buzzwords for plain human facts.</a:t>
            </a:r>
          </a:p>
          <a:p>
            <a:pPr>
              <a:defRPr sz="2400" b="1">
                <a:solidFill>
                  <a:srgbClr val="FFFFFF"/>
                </a:solidFill>
                <a:latin typeface="Manrope"/>
              </a:defRPr>
            </a:pPr>
            <a:r>
              <a:t>Peel. Press. Toast.</a:t>
            </a:r>
          </a:p>
        </p:txBody>
      </p:sp>
      <p:pic>
        <p:nvPicPr>
          <p:cNvPr id="4" name="Picture 3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Zero Hallucination Tolerance.</a:t>
            </a:r>
          </a:p>
          <a:p>
            <a:pPr>
              <a:spcAft>
                <a:spcPts val="1400"/>
              </a:spcAft>
              <a:defRPr sz="2400" b="1">
                <a:solidFill>
                  <a:srgbClr val="E24BFF"/>
                </a:solidFill>
                <a:latin typeface="Manrope"/>
              </a:defRPr>
            </a:pPr>
            <a:r>
              <a:t>Strict FSANZ food laws and mandatory allergen warnings.</a:t>
            </a:r>
          </a:p>
        </p:txBody>
      </p:sp>
      <p:pic>
        <p:nvPicPr>
          <p:cNvPr id="4" name="Picture 3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0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2377440"/>
            <a:ext cx="978408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4800" b="1">
                <a:solidFill>
                  <a:srgbClr val="FFFFFF"/>
                </a:solidFill>
                <a:latin typeface="Manrope"/>
              </a:defRPr>
            </a:pPr>
            <a:r>
              <a:t>Accountability Remains Human.</a:t>
            </a:r>
          </a:p>
          <a:p>
            <a:pPr>
              <a:spcAft>
                <a:spcPts val="1400"/>
              </a:spcAft>
              <a:defRPr sz="2400" b="1">
                <a:solidFill>
                  <a:srgbClr val="E24BFF"/>
                </a:solidFill>
                <a:latin typeface="Manrope"/>
              </a:defRPr>
            </a:pPr>
            <a:r>
              <a:t>Moral, regulatory, and commercial ownership cannot be outsourced.</a:t>
            </a:r>
          </a:p>
        </p:txBody>
      </p:sp>
      <p:pic>
        <p:nvPicPr>
          <p:cNvPr id="4" name="Picture 3" descr="wordmark_ye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7" y="6172200"/>
            <a:ext cx="1371600" cy="3355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