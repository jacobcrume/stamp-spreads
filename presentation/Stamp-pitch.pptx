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(0:00–0:08)</a:t>
            </a:r>
          </a:p>
          <a:p>
            <a:r>
              <a:t>Kia ora. I'm Jacob, and this is Stamp: a New Zealand breakfast spread innovation engineered for hot toast.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 (0:08–0:15)</a:t>
            </a:r>
          </a:p>
          <a:p>
            <a:r>
              <a:t>Eating toast away from a full kitchen is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WHO FAILS (0:15–0:22)</a:t>
            </a:r>
          </a:p>
          <a:p>
            <a:r>
              <a:t>In a hall, flat, or desk, nobody wants to lug a sticky 750g jar, hunt for a knife, and wash it in an office sink.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SOLUTION (0:22–0:28)</a:t>
            </a:r>
          </a:p>
          <a:p>
            <a:r>
              <a:t>Stamp reinvents the format with a thin, 10-gram disc of real spread on release film.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MELT GESTURE (0:28–0:34)</a:t>
            </a:r>
          </a:p>
          <a:p>
            <a:r>
              <a:t>You press it onto hot toast, and residual thermal energy melts it into an even spread in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STABILITY &amp; RANGE (0:34–0:40)</a:t>
            </a:r>
          </a:p>
          <a:p>
            <a:r>
              <a:t>Four launch varieties in an 8-stamp card sheet, shelf-stable for 12 months with zero refrigeration.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SCALE (0:40–0:46)</a:t>
            </a:r>
          </a:p>
          <a:p>
            <a:r>
              <a:t>Cleaned supermarket scan data shows the spreads category expanded 24% to 341 million dollars.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PREMIUM GROWTH (0:46–0:52)</a:t>
            </a:r>
          </a:p>
          <a:p>
            <a:r>
              <a:t>Premium branded spreads surged 29% to 113 million, significantly outperforming commodity tiers.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COMPETITIVE VOID (0:52–0:58)</a:t>
            </a:r>
          </a:p>
          <a:p>
            <a:r>
              <a:t>Across 154 spread products, not one offers a portion format. Jars compete on bulk weight; Stamp wins on convenience.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ECONOMICS (0:58–1:04)</a:t>
            </a:r>
          </a:p>
          <a:p>
            <a:r>
              <a:t>At five dollars a sheet—63 cents a serving—we retain a strong one-seventy-five gross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CONSTRAINTS (1:04–1:18)</a:t>
            </a:r>
          </a:p>
          <a:p>
            <a:r>
              <a:t>In steering AI, I enforced strict negative prompt constraints against fake badges and health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PARTITIONING (1:18–1:30)</a:t>
            </a:r>
          </a:p>
          <a:p>
            <a:r>
              <a:t>I partitioned distinct sessions for data cleaning, branding, and copy to prevent context rot.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TURNING POINT (1:30–1:45)</a:t>
            </a:r>
          </a:p>
          <a:p>
            <a:r>
              <a:t>My pivotal moment was catching an unrealistic AI claim that dairy butter could sit ambiently without spoilage.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VERIFICATION (1:45–1:58)</a:t>
            </a:r>
          </a:p>
          <a:p>
            <a:r>
              <a:t>I audited raw scan data outliers and manually verified shelf prices on New World instead of trusting model summaries.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AUTHENTICITY (1:58–2:15)</a:t>
            </a:r>
          </a:p>
          <a:p>
            <a:r>
              <a:t>To combat AI slop, I stripped corporate clichés and grounded packaging in real continuous deposit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REGULATION (2:15–2:30)</a:t>
            </a:r>
          </a:p>
          <a:p>
            <a:r>
              <a:t>In food and beverage, AI hallucinations are a severe legal hazard. I enforced strict FSANZ compliance and allergen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ETHICS &amp; WRAP (2:30–2:45)</a:t>
            </a:r>
          </a:p>
          <a:p>
            <a:r>
              <a:t>Generative AI accelerates velocity, but human skepticism, taste, discernment, and moral ownership remain essential.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087" y="2103120"/>
            <a:ext cx="5303520" cy="1360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378384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24BFF"/>
                </a:solidFill>
                <a:latin typeface="Manrope"/>
              </a:defRPr>
            </a:pPr>
            <a:r>
              <a:t>PEEL. PRESS. TOAST.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852160"/>
            <a:ext cx="94484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FFFFFF"/>
                </a:solidFill>
                <a:latin typeface="Manrope"/>
              </a:defRPr>
            </a:pPr>
            <a:r>
              <a:t>Commercial Business Pitch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FFD640"/>
                </a:solidFill>
                <a:latin typeface="Manrope"/>
              </a:defRPr>
            </a:pPr>
            <a:r>
              <a:t>The Problem</a:t>
            </a:r>
          </a:p>
          <a:p>
            <a:pPr>
              <a:spcAft>
                <a:spcPts val="1400"/>
              </a:spcAft>
              <a:defRPr sz="4800" b="1">
                <a:solidFill>
                  <a:srgbClr val="FFFFFF"/>
                </a:solidFill>
                <a:latin typeface="Manrope"/>
              </a:defRPr>
            </a:pPr>
            <a:r>
              <a:t>Jars Require Infrastructure.</a:t>
            </a:r>
          </a:p>
          <a:p>
            <a:pPr>
              <a:defRPr sz="2200" b="0">
                <a:solidFill>
                  <a:srgbClr val="FFD640"/>
                </a:solidFill>
                <a:latin typeface="Manrope"/>
              </a:defRPr>
            </a:pPr>
            <a:r>
              <a:t>Table knives, kitchen counters, and sink washing.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3774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Eating Away from Home is Broken.</a:t>
            </a:r>
          </a:p>
          <a:p>
            <a:pPr>
              <a:spcAft>
                <a:spcPts val="1400"/>
              </a:spcAft>
              <a:defRPr sz="2600" b="1">
                <a:solidFill>
                  <a:srgbClr val="FFD640"/>
                </a:solidFill>
                <a:latin typeface="Manrope"/>
              </a:defRPr>
            </a:pPr>
            <a:r>
              <a:t>Students in halls. Commuters. Desk workers.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FFD640"/>
                </a:solidFill>
                <a:latin typeface="Manrope"/>
              </a:defRPr>
            </a:pPr>
            <a:r>
              <a:t>The Solution</a:t>
            </a:r>
          </a:p>
          <a:p>
            <a:pPr>
              <a:spcAft>
                <a:spcPts val="1400"/>
              </a:spcAft>
              <a:defRPr sz="4800" b="1">
                <a:solidFill>
                  <a:srgbClr val="FFFFFF"/>
                </a:solidFill>
                <a:latin typeface="Manrope"/>
              </a:defRPr>
            </a:pPr>
            <a:r>
              <a:t>10 g Spread Disc on Release Film.</a:t>
            </a:r>
          </a:p>
          <a:p>
            <a:pPr>
              <a:defRPr sz="2200" b="0">
                <a:solidFill>
                  <a:srgbClr val="FFD640"/>
                </a:solidFill>
                <a:latin typeface="Manrope"/>
              </a:defRPr>
            </a:pPr>
            <a:r>
              <a:t>Peel it off. Press onto hot toast.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3774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800" b="1">
                <a:solidFill>
                  <a:srgbClr val="FFFFFF"/>
                </a:solidFill>
                <a:latin typeface="Manrope"/>
              </a:defRPr>
            </a:pPr>
            <a:r>
              <a:t>Zero Cutlery Needed.</a:t>
            </a:r>
          </a:p>
          <a:p>
            <a:pPr>
              <a:spcAft>
                <a:spcPts val="1400"/>
              </a:spcAft>
              <a:defRPr sz="2400" b="1">
                <a:solidFill>
                  <a:srgbClr val="FFD640"/>
                </a:solidFill>
                <a:latin typeface="Manrope"/>
              </a:defRPr>
            </a:pPr>
            <a:r>
              <a:t>Residual heat melts it across the crumb in seconds.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3774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800" b="1">
                <a:solidFill>
                  <a:srgbClr val="FFFFFF"/>
                </a:solidFill>
                <a:latin typeface="Manrope"/>
              </a:defRPr>
            </a:pPr>
            <a:r>
              <a:t>12-Month Ambient Life.</a:t>
            </a:r>
          </a:p>
          <a:p>
            <a:pPr>
              <a:spcAft>
                <a:spcPts val="1400"/>
              </a:spcAft>
              <a:defRPr sz="2400" b="1">
                <a:solidFill>
                  <a:srgbClr val="FFD640"/>
                </a:solidFill>
                <a:latin typeface="Manrope"/>
              </a:defRPr>
            </a:pPr>
            <a:r>
              <a:t>Salted Butter. Raspberry. Yeast. Peanut.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645920"/>
            <a:ext cx="978408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8000" b="1">
                <a:solidFill>
                  <a:srgbClr val="FF467A"/>
                </a:solidFill>
                <a:latin typeface="Manrope"/>
              </a:defRPr>
            </a:pPr>
            <a:r>
              <a:t>$341M</a:t>
            </a: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  <a:latin typeface="Manrope"/>
              </a:defRPr>
            </a:pPr>
            <a:r>
              <a:t>New Zealand Spreads Category.</a:t>
            </a:r>
          </a:p>
          <a:p>
            <a:pPr>
              <a:defRPr sz="2200" b="0">
                <a:solidFill>
                  <a:srgbClr val="FF467A"/>
                </a:solidFill>
                <a:latin typeface="Manrope"/>
              </a:defRPr>
            </a:pPr>
            <a:r>
              <a:t>+24% category revenue growth (2022–2025).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645920"/>
            <a:ext cx="978408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8000" b="1">
                <a:solidFill>
                  <a:srgbClr val="FF467A"/>
                </a:solidFill>
                <a:latin typeface="Manrope"/>
              </a:defRPr>
            </a:pPr>
            <a:r>
              <a:t>+29%</a:t>
            </a: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  <a:latin typeface="Manrope"/>
              </a:defRPr>
            </a:pPr>
            <a:r>
              <a:t>Premium Tier Surging.</a:t>
            </a:r>
          </a:p>
          <a:p>
            <a:pPr>
              <a:defRPr sz="2200" b="0">
                <a:solidFill>
                  <a:srgbClr val="FF467A"/>
                </a:solidFill>
                <a:latin typeface="Manrope"/>
              </a:defRPr>
            </a:pPr>
            <a:r>
              <a:t>Expanding from $88M to $113M NZD.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645920"/>
            <a:ext cx="978408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8000" b="1">
                <a:solidFill>
                  <a:srgbClr val="FF467A"/>
                </a:solidFill>
                <a:latin typeface="Manrope"/>
              </a:defRPr>
            </a:pPr>
            <a:r>
              <a:t>0 Rivals</a:t>
            </a: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  <a:latin typeface="Manrope"/>
              </a:defRPr>
            </a:pPr>
            <a:r>
              <a:t>Across 154 Supermarket Spreads.</a:t>
            </a:r>
          </a:p>
          <a:p>
            <a:pPr>
              <a:defRPr sz="2200" b="0">
                <a:solidFill>
                  <a:srgbClr val="FF467A"/>
                </a:solidFill>
                <a:latin typeface="Manrope"/>
              </a:defRPr>
            </a:pPr>
            <a:r>
              <a:t>Zero single-serve or utensil-free formats in New Zealand retail.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645920"/>
            <a:ext cx="978408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8000" b="1">
                <a:solidFill>
                  <a:srgbClr val="FF467A"/>
                </a:solidFill>
                <a:latin typeface="Manrope"/>
              </a:defRPr>
            </a:pPr>
            <a:r>
              <a:t>$1.75 Margin</a:t>
            </a: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  <a:latin typeface="Manrope"/>
              </a:defRPr>
            </a:pPr>
            <a:r>
              <a:t>$5.00 NZD per 8-Stamp Sheet.</a:t>
            </a:r>
          </a:p>
          <a:p>
            <a:pPr>
              <a:defRPr sz="2200" b="0">
                <a:solidFill>
                  <a:srgbClr val="FF467A"/>
                </a:solidFill>
                <a:latin typeface="Manrope"/>
              </a:defRPr>
            </a:pPr>
            <a:r>
              <a:t>63¢ per serving on an assumed $1.50 co-packing cost.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E2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FF8C30"/>
                </a:solidFill>
                <a:latin typeface="Manrope"/>
              </a:defRPr>
            </a:pPr>
            <a:r>
              <a:t>Negative Constraints.</a:t>
            </a:r>
          </a:p>
          <a:p>
            <a:pPr>
              <a:spcAft>
                <a:spcPts val="1400"/>
              </a:spcAft>
              <a:defRPr sz="4800" b="1">
                <a:solidFill>
                  <a:srgbClr val="FFFFFF"/>
                </a:solidFill>
                <a:latin typeface="Manrope"/>
              </a:defRPr>
            </a:pPr>
            <a:r>
              <a:t>Banning AI Marketing Hype.</a:t>
            </a:r>
          </a:p>
          <a:p>
            <a:pPr>
              <a:defRPr sz="2200" b="0">
                <a:solidFill>
                  <a:srgbClr val="FF8C30"/>
                </a:solidFill>
                <a:latin typeface="Manrope"/>
              </a:defRPr>
            </a:pPr>
            <a:r>
              <a:t>No fake certification badges. No medical health claims.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E2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3774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800" b="1">
                <a:solidFill>
                  <a:srgbClr val="FFFFFF"/>
                </a:solidFill>
                <a:latin typeface="Manrope"/>
              </a:defRPr>
            </a:pPr>
            <a:r>
              <a:t>Modular Sessions.</a:t>
            </a:r>
          </a:p>
          <a:p>
            <a:pPr>
              <a:spcAft>
                <a:spcPts val="1400"/>
              </a:spcAft>
              <a:defRPr sz="2200" b="1">
                <a:solidFill>
                  <a:srgbClr val="FF8C30"/>
                </a:solidFill>
                <a:latin typeface="Manrope"/>
              </a:defRPr>
            </a:pPr>
            <a:r>
              <a:t>Separating data, branding, and copy eliminated context drift.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E2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Catching Butter Instability.</a:t>
            </a:r>
          </a:p>
          <a:p>
            <a:pPr>
              <a:spcAft>
                <a:spcPts val="1400"/>
              </a:spcAft>
              <a:defRPr sz="2400" b="1">
                <a:solidFill>
                  <a:srgbClr val="FF8C30"/>
                </a:solidFill>
                <a:latin typeface="Manrope"/>
              </a:defRPr>
            </a:pPr>
            <a:r>
              <a:t>AI assumed table butter could sit ambiently.</a:t>
            </a:r>
          </a:p>
          <a:p>
            <a:pPr>
              <a:defRPr sz="2000" b="0">
                <a:solidFill>
                  <a:srgbClr val="FF8C30"/>
                </a:solidFill>
                <a:latin typeface="Manrope"/>
              </a:defRPr>
            </a:pPr>
            <a:r>
              <a:t>Human intervention forced dairy spread reformulation.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E2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3774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AI as Drafter, Not Director.</a:t>
            </a:r>
          </a:p>
          <a:p>
            <a:pPr>
              <a:spcAft>
                <a:spcPts val="1400"/>
              </a:spcAft>
              <a:defRPr sz="2200" b="1">
                <a:solidFill>
                  <a:srgbClr val="FF8C30"/>
                </a:solidFill>
                <a:latin typeface="Manrope"/>
              </a:defRPr>
            </a:pPr>
            <a:r>
              <a:t>Auditing scan price spikes. Verifying live supermarket shelves.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3774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800" b="1">
                <a:solidFill>
                  <a:srgbClr val="FFFFFF"/>
                </a:solidFill>
                <a:latin typeface="Manrope"/>
              </a:defRPr>
            </a:pPr>
            <a:r>
              <a:t>Banning Corporate Buzzwords.</a:t>
            </a:r>
          </a:p>
          <a:p>
            <a:pPr>
              <a:spcAft>
                <a:spcPts val="1400"/>
              </a:spcAft>
              <a:defRPr sz="2400" b="1">
                <a:solidFill>
                  <a:srgbClr val="E24BFF"/>
                </a:solidFill>
                <a:latin typeface="Manrope"/>
              </a:defRPr>
            </a:pPr>
            <a:r>
              <a:t>Stripping AI hype for plain facts: Peel. Press. Toast.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3774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800" b="1">
                <a:solidFill>
                  <a:srgbClr val="FFFFFF"/>
                </a:solidFill>
                <a:latin typeface="Manrope"/>
              </a:defRPr>
            </a:pPr>
            <a:r>
              <a:t>Zero Hallucination Tolerance.</a:t>
            </a:r>
          </a:p>
          <a:p>
            <a:pPr>
              <a:spcAft>
                <a:spcPts val="1400"/>
              </a:spcAft>
              <a:defRPr sz="2400" b="1">
                <a:solidFill>
                  <a:srgbClr val="E24BFF"/>
                </a:solidFill>
                <a:latin typeface="Manrope"/>
              </a:defRPr>
            </a:pPr>
            <a:r>
              <a:t>Strict FSANZ food laws and prominent allergen warnings.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3774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800" b="1">
                <a:solidFill>
                  <a:srgbClr val="FFFFFF"/>
                </a:solidFill>
                <a:latin typeface="Manrope"/>
              </a:defRPr>
            </a:pPr>
            <a:r>
              <a:t>Accountability Remains Human.</a:t>
            </a:r>
          </a:p>
          <a:p>
            <a:pPr>
              <a:spcAft>
                <a:spcPts val="1400"/>
              </a:spcAft>
              <a:defRPr sz="2400" b="1">
                <a:solidFill>
                  <a:srgbClr val="E24BFF"/>
                </a:solidFill>
                <a:latin typeface="Manrope"/>
              </a:defRPr>
            </a:pPr>
            <a:r>
              <a:t>Moral and legal ownership can never be outsourced.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