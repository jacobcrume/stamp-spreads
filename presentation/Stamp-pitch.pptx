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(0:00–0:08)</a:t>
            </a:r>
          </a:p>
          <a:p>
            <a:r>
              <a:t>Kia ora. I'm Jacob, and this is Stamp: a New Zealand breakfast spread innovation engineered for hot toast. Over the next minute, I will present our product and market opportunity, followed by my personal reflection on building with generative AI.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PITCH SLIDE 1 (0:08–0:34)</a:t>
            </a:r>
          </a:p>
          <a:p>
            <a:r>
              <a:t>Eating toast away from a full kitchen is broken. When you're in a student hall, flat, or office desk, nobody wants to lug a sticky 750-gram jar, track down a table knife, and wash it in an office sink.</a:t>
            </a:r>
          </a:p>
          <a:p/>
          <a:p>
            <a:r>
              <a:t>Stamp reinvents the format with a thin, 10-gram disc of real spread on release film. You peel it off, press it onto hot toast, and residual heat softens it into an even spread in seconds. No knife, no open jar, no morning mess.</a:t>
            </a:r>
          </a:p>
          <a:p/>
          <a:p>
            <a:r>
              <a:t>We launch with four distinct flavours: Salted Butter, Raspberry, Yeast extract, and Peanut—pantry-stable for 12 months in an 8-stamp card sheet.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PITCH SLIDE 2 (0:34–0:58)</a:t>
            </a:r>
          </a:p>
          <a:p>
            <a:r>
              <a:t>Our analysis of New Zealand breakfast retail sales shows spreads revenue grew 24% to 341 million dollars, with the premium tier surging 29% to 113 million. Yet across 154 existing spread products, not one offers a single-serve portion format.</a:t>
            </a:r>
          </a:p>
          <a:p/>
          <a:p>
            <a:r>
              <a:t>Supermarket jars like Pic's or Fix &amp; Fogg compete on bulk weight, but they are messy and stationary. At five dollars a sheet—just 63 cents a toast portion—Stamp captures premium convenience. With an assumed manufacturing cost of one-fifty, we retain a strong one-dollar-seventy-five gross margin per sheet. Stamp is ready to own portable breakfast.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REFLECTION Q1 (1:00–1:55)</a:t>
            </a:r>
          </a:p>
          <a:p>
            <a:r>
              <a:t>[Jacob's personal reflection: speak directly to camera about your AI steering experience.]</a:t>
            </a:r>
          </a:p>
          <a:p>
            <a:r>
              <a:t>Key speaking cues:</a:t>
            </a:r>
          </a:p>
          <a:p>
            <a:r>
              <a:t>1. Mention how you structured distinct sessions rather than one massive unmanageable chat.</a:t>
            </a:r>
          </a:p>
          <a:p>
            <a:r>
              <a:t>2. Explain how you used explicit negative constraints (e.g. banning health claims and certification badges) and role personas to get reliable results.</a:t>
            </a:r>
          </a:p>
          <a:p>
            <a:r>
              <a:t>3. Share a concrete example where an AI model gave an unrealistic answer (e.g., assuming chilled butter could sit ambiently without dairy-spread reformulations) and how you caught and corrected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REFLECTION Q2 (1:55–2:45)</a:t>
            </a:r>
          </a:p>
          <a:p>
            <a:r>
              <a:t>[Jacob's personal reflection: speak directly to camera on authenticity and ethics.]</a:t>
            </a:r>
          </a:p>
          <a:p>
            <a:r>
              <a:t>Key speaking cues:</a:t>
            </a:r>
          </a:p>
          <a:p>
            <a:r>
              <a:t>1. Explain how you actively stripped out generic corporate jargon in favour of plain, punchy facts.</a:t>
            </a:r>
          </a:p>
          <a:p>
            <a:r>
              <a:t>2. Emphasize the legal hazards of AI in food and beverage: hallucinated health benefits, false gluten-free claims, and allergen responsibility.</a:t>
            </a:r>
          </a:p>
          <a:p>
            <a:r>
              <a:t>3. Conclude with your takeaway: Generative AI accelerates drafting, but human judgment, taste, and ultimate accountability can never be outsourced to a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40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 y="1097280"/>
            <a:ext cx="4087368" cy="329184"/>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wrap="none" lIns="137160" rIns="137160"/>
          <a:lstStyle/>
          <a:p>
            <a:pPr algn="ctr">
              <a:defRPr sz="1050" b="1">
                <a:solidFill>
                  <a:srgbClr val="E24BFF"/>
                </a:solidFill>
                <a:latin typeface="Manrope"/>
              </a:defRPr>
            </a:pPr>
            <a:r>
              <a:t>COMMERCIAL PROPOSAL • INFO123 PROJECT</a:t>
            </a:r>
          </a:p>
        </p:txBody>
      </p:sp>
      <p:sp>
        <p:nvSpPr>
          <p:cNvPr id="4" name="TextBox 3"/>
          <p:cNvSpPr txBox="1"/>
          <p:nvPr/>
        </p:nvSpPr>
        <p:spPr>
          <a:xfrm>
            <a:off x="822960" y="1600200"/>
            <a:ext cx="6858000" cy="2560320"/>
          </a:xfrm>
          <a:prstGeom prst="rect">
            <a:avLst/>
          </a:prstGeom>
          <a:noFill/>
        </p:spPr>
        <p:txBody>
          <a:bodyPr wrap="square" lIns="0" tIns="0" rIns="0" bIns="0">
            <a:spAutoFit/>
          </a:bodyPr>
          <a:lstStyle/>
          <a:p>
            <a:pPr>
              <a:spcAft>
                <a:spcPts val="200"/>
              </a:spcAft>
              <a:defRPr sz="6400" b="1">
                <a:solidFill>
                  <a:srgbClr val="E24BFF"/>
                </a:solidFill>
                <a:latin typeface="Manrope"/>
              </a:defRPr>
            </a:pPr>
            <a:r>
              <a:t>STAMP</a:t>
            </a:r>
          </a:p>
          <a:p>
            <a:pPr>
              <a:spcAft>
                <a:spcPts val="1000"/>
              </a:spcAft>
              <a:defRPr sz="2600" b="1">
                <a:solidFill>
                  <a:srgbClr val="FFFFFF"/>
                </a:solidFill>
                <a:latin typeface="Manrope"/>
              </a:defRPr>
            </a:pPr>
            <a:r>
              <a:t>PEEL. PRESS. TOAST.</a:t>
            </a:r>
          </a:p>
          <a:p>
            <a:pPr>
              <a:defRPr sz="1600">
                <a:solidFill>
                  <a:srgbClr val="D8B4FE"/>
                </a:solidFill>
                <a:latin typeface="Manrope"/>
              </a:defRPr>
            </a:pPr>
            <a:r>
              <a:t>The Single-Serve Breakfast Spread Discs for Hot Toast</a:t>
            </a:r>
          </a:p>
        </p:txBody>
      </p:sp>
      <p:sp>
        <p:nvSpPr>
          <p:cNvPr id="5" name="Rounded Rectangle 4"/>
          <p:cNvSpPr/>
          <p:nvPr/>
        </p:nvSpPr>
        <p:spPr>
          <a:xfrm>
            <a:off x="822960" y="4297680"/>
            <a:ext cx="2167128" cy="329184"/>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wrap="none" lIns="137160" rIns="137160"/>
          <a:lstStyle/>
          <a:p>
            <a:pPr algn="ctr">
              <a:defRPr sz="1050" b="1">
                <a:solidFill>
                  <a:srgbClr val="E24BFF"/>
                </a:solidFill>
                <a:latin typeface="Manrope"/>
              </a:defRPr>
            </a:pPr>
            <a:r>
              <a:t>$5.00 NZD / SHEET</a:t>
            </a:r>
          </a:p>
        </p:txBody>
      </p:sp>
      <p:sp>
        <p:nvSpPr>
          <p:cNvPr id="6" name="Rounded Rectangle 5"/>
          <p:cNvSpPr/>
          <p:nvPr/>
        </p:nvSpPr>
        <p:spPr>
          <a:xfrm>
            <a:off x="3218688" y="4297680"/>
            <a:ext cx="2670048" cy="329184"/>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wrap="none" lIns="137160" rIns="137160"/>
          <a:lstStyle/>
          <a:p>
            <a:pPr algn="ctr">
              <a:defRPr sz="1050" b="1">
                <a:solidFill>
                  <a:srgbClr val="FFD640"/>
                </a:solidFill>
                <a:latin typeface="Manrope"/>
              </a:defRPr>
            </a:pPr>
            <a:r>
              <a:t>12-MONTH PANTRY STABLE</a:t>
            </a:r>
          </a:p>
        </p:txBody>
      </p:sp>
      <p:sp>
        <p:nvSpPr>
          <p:cNvPr id="7" name="Rounded Rectangle 6"/>
          <p:cNvSpPr/>
          <p:nvPr/>
        </p:nvSpPr>
        <p:spPr>
          <a:xfrm>
            <a:off x="6117336" y="4297680"/>
            <a:ext cx="3172968" cy="329184"/>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wrap="none" lIns="137160" rIns="137160"/>
          <a:lstStyle/>
          <a:p>
            <a:pPr algn="ctr">
              <a:defRPr sz="1050" b="1">
                <a:solidFill>
                  <a:srgbClr val="FF467A"/>
                </a:solidFill>
                <a:latin typeface="Manrope"/>
              </a:defRPr>
            </a:pPr>
            <a:r>
              <a:t>NO JAR WASTE • UTENSIL-FREE</a:t>
            </a:r>
          </a:p>
        </p:txBody>
      </p:sp>
      <p:sp>
        <p:nvSpPr>
          <p:cNvPr id="8" name="Rounded Rectangle 7"/>
          <p:cNvSpPr/>
          <p:nvPr/>
        </p:nvSpPr>
        <p:spPr>
          <a:xfrm>
            <a:off x="822960" y="4937760"/>
            <a:ext cx="6583680" cy="118872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5074920"/>
            <a:ext cx="6035040" cy="914400"/>
          </a:xfrm>
          <a:prstGeom prst="rect">
            <a:avLst/>
          </a:prstGeom>
          <a:noFill/>
        </p:spPr>
        <p:txBody>
          <a:bodyPr wrap="square" lIns="0" tIns="0" rIns="0" bIns="0">
            <a:spAutoFit/>
          </a:bodyPr>
          <a:lstStyle/>
          <a:p>
            <a:pPr>
              <a:spcAft>
                <a:spcPts val="400"/>
              </a:spcAft>
              <a:defRPr sz="1200" b="1">
                <a:solidFill>
                  <a:srgbClr val="E24BFF"/>
                </a:solidFill>
                <a:latin typeface="Manrope"/>
              </a:defRPr>
            </a:pPr>
            <a:r>
              <a:t>PRESENTER: </a:t>
            </a:r>
            <a:r>
              <a:rPr b="1">
                <a:solidFill>
                  <a:srgbClr val="FFFFFF"/>
                </a:solidFill>
              </a:rPr>
              <a:t>Jacob  |  INFO123 Business AI Project</a:t>
            </a:r>
          </a:p>
          <a:p>
            <a:pPr>
              <a:defRPr sz="1100" b="1">
                <a:solidFill>
                  <a:srgbClr val="FFD640"/>
                </a:solidFill>
                <a:latin typeface="Manrope"/>
              </a:defRPr>
            </a:pPr>
            <a:r>
              <a:t>LIVE PLATFORM: </a:t>
            </a:r>
            <a:r>
              <a:rPr b="0">
                <a:solidFill>
                  <a:srgbClr val="E9D5FF"/>
                </a:solidFill>
              </a:rPr>
              <a:t>stamp-spreads.vercel.app  •  github.com/JacobCrume/stamp-spreads</a:t>
            </a:r>
          </a:p>
        </p:txBody>
      </p:sp>
      <p:pic>
        <p:nvPicPr>
          <p:cNvPr id="10" name="Picture 9" descr="butter.png"/>
          <p:cNvPicPr>
            <a:picLocks noChangeAspect="1"/>
          </p:cNvPicPr>
          <p:nvPr/>
        </p:nvPicPr>
        <p:blipFill>
          <a:blip r:embed="rId2"/>
          <a:stretch>
            <a:fillRect/>
          </a:stretch>
        </p:blipFill>
        <p:spPr>
          <a:xfrm>
            <a:off x="7955279" y="1371600"/>
            <a:ext cx="3474720" cy="46329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40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3986784" cy="329184"/>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wrap="none" lIns="137160" rIns="137160"/>
          <a:lstStyle/>
          <a:p>
            <a:pPr algn="ctr">
              <a:defRPr sz="1050" b="1">
                <a:solidFill>
                  <a:srgbClr val="E24BFF"/>
                </a:solidFill>
                <a:latin typeface="Manrope"/>
              </a:defRPr>
            </a:pPr>
            <a:r>
              <a:t>INVESTOR PITCH • PART 1 (30 SECONDS)</a:t>
            </a:r>
          </a:p>
        </p:txBody>
      </p:sp>
      <p:sp>
        <p:nvSpPr>
          <p:cNvPr id="4" name="TextBox 3"/>
          <p:cNvSpPr txBox="1"/>
          <p:nvPr/>
        </p:nvSpPr>
        <p:spPr>
          <a:xfrm>
            <a:off x="731520" y="859536"/>
            <a:ext cx="10698480" cy="960120"/>
          </a:xfrm>
          <a:prstGeom prst="rect">
            <a:avLst/>
          </a:prstGeom>
          <a:noFill/>
        </p:spPr>
        <p:txBody>
          <a:bodyPr wrap="square" lIns="0" tIns="0" rIns="0" bIns="0">
            <a:spAutoFit/>
          </a:bodyPr>
          <a:lstStyle/>
          <a:p>
            <a:pPr>
              <a:spcAft>
                <a:spcPts val="200"/>
              </a:spcAft>
              <a:defRPr sz="2600" b="1">
                <a:solidFill>
                  <a:srgbClr val="FFFFFF"/>
                </a:solidFill>
                <a:latin typeface="Manrope"/>
              </a:defRPr>
            </a:pPr>
            <a:r>
              <a:t>Product Innovation: Peel. Press. Toast.</a:t>
            </a:r>
          </a:p>
          <a:p>
            <a:pPr>
              <a:defRPr sz="1300">
                <a:solidFill>
                  <a:srgbClr val="D8B4FE"/>
                </a:solidFill>
                <a:latin typeface="Manrope"/>
              </a:defRPr>
            </a:pPr>
            <a:r>
              <a:t>A calibrated 10 g disc on release film: no knife, no sticky jar, no morning wash-up.</a:t>
            </a:r>
          </a:p>
        </p:txBody>
      </p:sp>
      <p:sp>
        <p:nvSpPr>
          <p:cNvPr id="5" name="Rounded Rectangle 4"/>
          <p:cNvSpPr/>
          <p:nvPr/>
        </p:nvSpPr>
        <p:spPr>
          <a:xfrm>
            <a:off x="731520" y="1828800"/>
            <a:ext cx="5212080" cy="448056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148840"/>
            <a:ext cx="4572000" cy="3840480"/>
          </a:xfrm>
          <a:prstGeom prst="rect">
            <a:avLst/>
          </a:prstGeom>
          <a:noFill/>
        </p:spPr>
        <p:txBody>
          <a:bodyPr wrap="square" lIns="0" tIns="0" rIns="0" bIns="0">
            <a:spAutoFit/>
          </a:bodyPr>
          <a:lstStyle/>
          <a:p>
            <a:pPr>
              <a:spcAft>
                <a:spcPts val="1400"/>
              </a:spcAft>
              <a:defRPr sz="1800" b="1">
                <a:solidFill>
                  <a:srgbClr val="E24BFF"/>
                </a:solidFill>
                <a:latin typeface="Manrope"/>
              </a:defRPr>
            </a:pPr>
            <a:r>
              <a:t>The Out-of-Kitchen Friction</a:t>
            </a:r>
          </a:p>
          <a:p>
            <a:pPr>
              <a:spcAft>
                <a:spcPts val="1000"/>
              </a:spcAft>
              <a:defRPr sz="1200" b="1">
                <a:solidFill>
                  <a:srgbClr val="FFFFFF"/>
                </a:solidFill>
                <a:latin typeface="Manrope"/>
              </a:defRPr>
            </a:pPr>
            <a:r>
              <a:t>• The Jar Infrastructure Problem</a:t>
            </a:r>
            <a:br/>
            <a:r>
              <a:rPr sz="1100" b="0">
                <a:solidFill>
                  <a:srgbClr val="E9D5FF"/>
                </a:solidFill>
                <a:latin typeface="Manrope"/>
              </a:rPr>
              <a:t>Eating toast away from home (office breakrooms, student halls, flat kitchens) demands cutlery, a sticky tub, and a sink to wash up. Cutlery-dependent spreads fail mobile consumers.</a:t>
            </a:r>
          </a:p>
          <a:p>
            <a:pPr>
              <a:spcAft>
                <a:spcPts val="1000"/>
              </a:spcAft>
              <a:defRPr sz="1200" b="1">
                <a:solidFill>
                  <a:srgbClr val="FFFFFF"/>
                </a:solidFill>
                <a:latin typeface="Manrope"/>
              </a:defRPr>
            </a:pPr>
            <a:r>
              <a:t>• The Peel-and-Press Format</a:t>
            </a:r>
            <a:br/>
            <a:r>
              <a:rPr sz="1100" b="0">
                <a:solidFill>
                  <a:srgbClr val="E9D5FF"/>
                </a:solidFill>
                <a:latin typeface="Manrope"/>
              </a:rPr>
              <a:t>Each Stamp delivers a calibrated 10 g disc mounted onto food-grade release film. Peel the disc, press it directly onto hot bread, and residual heat softens it into an even, velvety layer across the crumb.</a:t>
            </a:r>
          </a:p>
          <a:p>
            <a:pPr>
              <a:spcAft>
                <a:spcPts val="1000"/>
              </a:spcAft>
              <a:defRPr sz="1200" b="1">
                <a:solidFill>
                  <a:srgbClr val="FFFFFF"/>
                </a:solidFill>
                <a:latin typeface="Manrope"/>
              </a:defRPr>
            </a:pPr>
            <a:r>
              <a:t>• 12-Month Ambient Pantry Life</a:t>
            </a:r>
            <a:br/>
            <a:r>
              <a:rPr sz="1100" b="0">
                <a:solidFill>
                  <a:srgbClr val="E9D5FF"/>
                </a:solidFill>
                <a:latin typeface="Manrope"/>
              </a:rPr>
              <a:t>Proprietary water-activity barrier formulation packaged in airtight card sheets provides verified 12-month ambient shelf stability without refrigeration.</a:t>
            </a:r>
          </a:p>
        </p:txBody>
      </p:sp>
      <p:sp>
        <p:nvSpPr>
          <p:cNvPr id="7" name="Rounded Rectangle 6"/>
          <p:cNvSpPr/>
          <p:nvPr/>
        </p:nvSpPr>
        <p:spPr>
          <a:xfrm>
            <a:off x="6217920" y="1828800"/>
            <a:ext cx="5212080" cy="448056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148840"/>
            <a:ext cx="4572000" cy="457200"/>
          </a:xfrm>
          <a:prstGeom prst="rect">
            <a:avLst/>
          </a:prstGeom>
          <a:noFill/>
        </p:spPr>
        <p:txBody>
          <a:bodyPr wrap="square" lIns="0" tIns="0" rIns="0" bIns="0">
            <a:spAutoFit/>
          </a:bodyPr>
          <a:lstStyle/>
          <a:p>
            <a:pPr>
              <a:defRPr sz="1800" b="1">
                <a:solidFill>
                  <a:srgbClr val="FFD640"/>
                </a:solidFill>
                <a:latin typeface="Manrope"/>
              </a:defRPr>
            </a:pPr>
            <a:r>
              <a:t>Four Launch Flavours</a:t>
            </a:r>
          </a:p>
        </p:txBody>
      </p:sp>
      <p:sp>
        <p:nvSpPr>
          <p:cNvPr id="9" name="Rounded Rectangle 8"/>
          <p:cNvSpPr/>
          <p:nvPr/>
        </p:nvSpPr>
        <p:spPr>
          <a:xfrm>
            <a:off x="6492240" y="2651760"/>
            <a:ext cx="4663440" cy="621792"/>
          </a:xfrm>
          <a:prstGeom prst="roundRect">
            <a:avLst/>
          </a:prstGeom>
          <a:solidFill>
            <a:srgbClr val="4C0C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2724912"/>
            <a:ext cx="4389120" cy="502920"/>
          </a:xfrm>
          <a:prstGeom prst="rect">
            <a:avLst/>
          </a:prstGeom>
          <a:noFill/>
        </p:spPr>
        <p:txBody>
          <a:bodyPr wrap="square" lIns="0" tIns="0" rIns="0" bIns="0">
            <a:spAutoFit/>
          </a:bodyPr>
          <a:lstStyle/>
          <a:p>
            <a:pPr>
              <a:defRPr sz="1100" b="1">
                <a:solidFill>
                  <a:srgbClr val="FFD640"/>
                </a:solidFill>
                <a:latin typeface="Manrope"/>
              </a:defRPr>
            </a:pPr>
            <a:r>
              <a:t>SALTED BUTTER  </a:t>
            </a:r>
          </a:p>
          <a:p>
            <a:pPr>
              <a:defRPr sz="950">
                <a:solidFill>
                  <a:srgbClr val="E9D5FF"/>
                </a:solidFill>
                <a:latin typeface="Manrope"/>
              </a:defRPr>
            </a:pPr>
            <a:r>
              <a:t>Cultured dairy spread (2 g salt / 78 g fat). Rich European style.</a:t>
            </a:r>
          </a:p>
        </p:txBody>
      </p:sp>
      <p:sp>
        <p:nvSpPr>
          <p:cNvPr id="11" name="Rounded Rectangle 10"/>
          <p:cNvSpPr/>
          <p:nvPr/>
        </p:nvSpPr>
        <p:spPr>
          <a:xfrm>
            <a:off x="6492240" y="3364992"/>
            <a:ext cx="4663440" cy="621792"/>
          </a:xfrm>
          <a:prstGeom prst="roundRect">
            <a:avLst/>
          </a:prstGeom>
          <a:solidFill>
            <a:srgbClr val="4C0C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3438144"/>
            <a:ext cx="4389120" cy="502920"/>
          </a:xfrm>
          <a:prstGeom prst="rect">
            <a:avLst/>
          </a:prstGeom>
          <a:noFill/>
        </p:spPr>
        <p:txBody>
          <a:bodyPr wrap="square" lIns="0" tIns="0" rIns="0" bIns="0">
            <a:spAutoFit/>
          </a:bodyPr>
          <a:lstStyle/>
          <a:p>
            <a:pPr>
              <a:defRPr sz="1100" b="1">
                <a:solidFill>
                  <a:srgbClr val="FF467A"/>
                </a:solidFill>
                <a:latin typeface="Manrope"/>
              </a:defRPr>
            </a:pPr>
            <a:r>
              <a:t>WILD RASPBERRY  </a:t>
            </a:r>
          </a:p>
          <a:p>
            <a:pPr>
              <a:defRPr sz="950">
                <a:solidFill>
                  <a:srgbClr val="E9D5FF"/>
                </a:solidFill>
                <a:latin typeface="Manrope"/>
              </a:defRPr>
            </a:pPr>
            <a:r>
              <a:t>150 g fruit paste / 100 g. Natural pectin set, tart &amp; vibrant.</a:t>
            </a:r>
          </a:p>
        </p:txBody>
      </p:sp>
      <p:sp>
        <p:nvSpPr>
          <p:cNvPr id="13" name="Rounded Rectangle 12"/>
          <p:cNvSpPr/>
          <p:nvPr/>
        </p:nvSpPr>
        <p:spPr>
          <a:xfrm>
            <a:off x="6492240" y="4078224"/>
            <a:ext cx="4663440" cy="621792"/>
          </a:xfrm>
          <a:prstGeom prst="roundRect">
            <a:avLst/>
          </a:prstGeom>
          <a:solidFill>
            <a:srgbClr val="4C0C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151376"/>
            <a:ext cx="4389120" cy="502920"/>
          </a:xfrm>
          <a:prstGeom prst="rect">
            <a:avLst/>
          </a:prstGeom>
          <a:noFill/>
        </p:spPr>
        <p:txBody>
          <a:bodyPr wrap="square" lIns="0" tIns="0" rIns="0" bIns="0">
            <a:spAutoFit/>
          </a:bodyPr>
          <a:lstStyle/>
          <a:p>
            <a:pPr>
              <a:defRPr sz="1100" b="1">
                <a:solidFill>
                  <a:srgbClr val="E24BFF"/>
                </a:solidFill>
                <a:latin typeface="Manrope"/>
              </a:defRPr>
            </a:pPr>
            <a:r>
              <a:t>YEAST EXTRACT  </a:t>
            </a:r>
          </a:p>
          <a:p>
            <a:pPr>
              <a:defRPr sz="950">
                <a:solidFill>
                  <a:srgbClr val="E9D5FF"/>
                </a:solidFill>
                <a:latin typeface="Manrope"/>
              </a:defRPr>
            </a:pPr>
            <a:r>
              <a:t>80% autolysed yeast, 15.5% barley malt. Classic savoury umami.</a:t>
            </a:r>
          </a:p>
        </p:txBody>
      </p:sp>
      <p:sp>
        <p:nvSpPr>
          <p:cNvPr id="15" name="Rounded Rectangle 14"/>
          <p:cNvSpPr/>
          <p:nvPr/>
        </p:nvSpPr>
        <p:spPr>
          <a:xfrm>
            <a:off x="6492240" y="4791456"/>
            <a:ext cx="4663440" cy="621792"/>
          </a:xfrm>
          <a:prstGeom prst="roundRect">
            <a:avLst/>
          </a:prstGeom>
          <a:solidFill>
            <a:srgbClr val="4C0C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4864608"/>
            <a:ext cx="4389120" cy="502920"/>
          </a:xfrm>
          <a:prstGeom prst="rect">
            <a:avLst/>
          </a:prstGeom>
          <a:noFill/>
        </p:spPr>
        <p:txBody>
          <a:bodyPr wrap="square" lIns="0" tIns="0" rIns="0" bIns="0">
            <a:spAutoFit/>
          </a:bodyPr>
          <a:lstStyle/>
          <a:p>
            <a:pPr>
              <a:defRPr sz="1100" b="1">
                <a:solidFill>
                  <a:srgbClr val="FF8C30"/>
                </a:solidFill>
                <a:latin typeface="Manrope"/>
              </a:defRPr>
            </a:pPr>
            <a:r>
              <a:t>ROASTED PEANUT  </a:t>
            </a:r>
          </a:p>
          <a:p>
            <a:pPr>
              <a:defRPr sz="950">
                <a:solidFill>
                  <a:srgbClr val="E9D5FF"/>
                </a:solidFill>
                <a:latin typeface="Manrope"/>
              </a:defRPr>
            </a:pPr>
            <a:r>
              <a:t>96% roasted peanuts + hard fat anti-oil separation barrier.</a:t>
            </a:r>
          </a:p>
        </p:txBody>
      </p:sp>
      <p:pic>
        <p:nvPicPr>
          <p:cNvPr id="17" name="Picture 16" descr="pack.png"/>
          <p:cNvPicPr>
            <a:picLocks noChangeAspect="1"/>
          </p:cNvPicPr>
          <p:nvPr/>
        </p:nvPicPr>
        <p:blipFill>
          <a:blip r:embed="rId2"/>
          <a:stretch>
            <a:fillRect/>
          </a:stretch>
        </p:blipFill>
        <p:spPr>
          <a:xfrm>
            <a:off x="7589520" y="4937760"/>
            <a:ext cx="960120" cy="12801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40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3986784" cy="329184"/>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wrap="none" lIns="137160" rIns="137160"/>
          <a:lstStyle/>
          <a:p>
            <a:pPr algn="ctr">
              <a:defRPr sz="1050" b="1">
                <a:solidFill>
                  <a:srgbClr val="FF467A"/>
                </a:solidFill>
                <a:latin typeface="Manrope"/>
              </a:defRPr>
            </a:pPr>
            <a:r>
              <a:t>INVESTOR PITCH • PART 2 (30 SECONDS)</a:t>
            </a:r>
          </a:p>
        </p:txBody>
      </p:sp>
      <p:sp>
        <p:nvSpPr>
          <p:cNvPr id="4" name="TextBox 3"/>
          <p:cNvSpPr txBox="1"/>
          <p:nvPr/>
        </p:nvSpPr>
        <p:spPr>
          <a:xfrm>
            <a:off x="731520" y="859536"/>
            <a:ext cx="10698480" cy="960120"/>
          </a:xfrm>
          <a:prstGeom prst="rect">
            <a:avLst/>
          </a:prstGeom>
          <a:noFill/>
        </p:spPr>
        <p:txBody>
          <a:bodyPr wrap="square" lIns="0" tIns="0" rIns="0" bIns="0">
            <a:spAutoFit/>
          </a:bodyPr>
          <a:lstStyle/>
          <a:p>
            <a:pPr>
              <a:spcAft>
                <a:spcPts val="200"/>
              </a:spcAft>
              <a:defRPr sz="2600" b="1">
                <a:solidFill>
                  <a:srgbClr val="FFFFFF"/>
                </a:solidFill>
                <a:latin typeface="Manrope"/>
              </a:defRPr>
            </a:pPr>
            <a:r>
              <a:t>Market Opportunity &amp; Unit Economics</a:t>
            </a:r>
          </a:p>
          <a:p>
            <a:pPr>
              <a:defRPr sz="1300">
                <a:solidFill>
                  <a:srgbClr val="D8B4FE"/>
                </a:solidFill>
                <a:latin typeface="Manrope"/>
              </a:defRPr>
            </a:pPr>
            <a:r>
              <a:t>$341M New Zealand category, 24% revenue growth, and zero portion-format rivals.</a:t>
            </a:r>
          </a:p>
        </p:txBody>
      </p:sp>
      <p:sp>
        <p:nvSpPr>
          <p:cNvPr id="5" name="Rounded Rectangle 4"/>
          <p:cNvSpPr/>
          <p:nvPr/>
        </p:nvSpPr>
        <p:spPr>
          <a:xfrm>
            <a:off x="731520" y="1828800"/>
            <a:ext cx="3383280" cy="114300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38528"/>
            <a:ext cx="3017520" cy="923544"/>
          </a:xfrm>
          <a:prstGeom prst="rect">
            <a:avLst/>
          </a:prstGeom>
          <a:noFill/>
        </p:spPr>
        <p:txBody>
          <a:bodyPr wrap="square" lIns="0" tIns="0" rIns="0" bIns="0">
            <a:spAutoFit/>
          </a:bodyPr>
          <a:lstStyle/>
          <a:p>
            <a:pPr>
              <a:spcAft>
                <a:spcPts val="200"/>
              </a:spcAft>
              <a:defRPr sz="2800" b="1">
                <a:solidFill>
                  <a:srgbClr val="E24BFF"/>
                </a:solidFill>
                <a:latin typeface="Manrope"/>
              </a:defRPr>
            </a:pPr>
            <a:r>
              <a:t>$341M</a:t>
            </a:r>
          </a:p>
          <a:p>
            <a:pPr>
              <a:spcAft>
                <a:spcPts val="100"/>
              </a:spcAft>
              <a:defRPr sz="1000" b="1">
                <a:solidFill>
                  <a:srgbClr val="FFFFFF"/>
                </a:solidFill>
                <a:latin typeface="Manrope"/>
              </a:defRPr>
            </a:pPr>
            <a:r>
              <a:t>TOTAL NZ SPREADS CATEGORY</a:t>
            </a:r>
          </a:p>
          <a:p>
            <a:pPr>
              <a:defRPr sz="950">
                <a:solidFill>
                  <a:srgbClr val="D8B4FE"/>
                </a:solidFill>
                <a:latin typeface="Manrope"/>
              </a:defRPr>
            </a:pPr>
            <a:r>
              <a:t>+24% growth from $275M (2022–2025)</a:t>
            </a:r>
          </a:p>
        </p:txBody>
      </p:sp>
      <p:sp>
        <p:nvSpPr>
          <p:cNvPr id="7" name="Rounded Rectangle 6"/>
          <p:cNvSpPr/>
          <p:nvPr/>
        </p:nvSpPr>
        <p:spPr>
          <a:xfrm>
            <a:off x="4389120" y="1828800"/>
            <a:ext cx="3383280" cy="114300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38528"/>
            <a:ext cx="3017520" cy="923544"/>
          </a:xfrm>
          <a:prstGeom prst="rect">
            <a:avLst/>
          </a:prstGeom>
          <a:noFill/>
        </p:spPr>
        <p:txBody>
          <a:bodyPr wrap="square" lIns="0" tIns="0" rIns="0" bIns="0">
            <a:spAutoFit/>
          </a:bodyPr>
          <a:lstStyle/>
          <a:p>
            <a:pPr>
              <a:spcAft>
                <a:spcPts val="200"/>
              </a:spcAft>
              <a:defRPr sz="2800" b="1">
                <a:solidFill>
                  <a:srgbClr val="FF467A"/>
                </a:solidFill>
                <a:latin typeface="Manrope"/>
              </a:defRPr>
            </a:pPr>
            <a:r>
              <a:t>+29%</a:t>
            </a:r>
          </a:p>
          <a:p>
            <a:pPr>
              <a:spcAft>
                <a:spcPts val="100"/>
              </a:spcAft>
              <a:defRPr sz="1000" b="1">
                <a:solidFill>
                  <a:srgbClr val="FFFFFF"/>
                </a:solidFill>
                <a:latin typeface="Manrope"/>
              </a:defRPr>
            </a:pPr>
            <a:r>
              <a:t>PREMIUM TIER SURGE</a:t>
            </a:r>
          </a:p>
          <a:p>
            <a:pPr>
              <a:defRPr sz="950">
                <a:solidFill>
                  <a:srgbClr val="D8B4FE"/>
                </a:solidFill>
                <a:latin typeface="Manrope"/>
              </a:defRPr>
            </a:pPr>
            <a:r>
              <a:t>Surging from $88M to $113M NZD</a:t>
            </a:r>
          </a:p>
        </p:txBody>
      </p:sp>
      <p:sp>
        <p:nvSpPr>
          <p:cNvPr id="9" name="Rounded Rectangle 8"/>
          <p:cNvSpPr/>
          <p:nvPr/>
        </p:nvSpPr>
        <p:spPr>
          <a:xfrm>
            <a:off x="8046720" y="1828800"/>
            <a:ext cx="3383280" cy="114300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938528"/>
            <a:ext cx="3017520" cy="923544"/>
          </a:xfrm>
          <a:prstGeom prst="rect">
            <a:avLst/>
          </a:prstGeom>
          <a:noFill/>
        </p:spPr>
        <p:txBody>
          <a:bodyPr wrap="square" lIns="0" tIns="0" rIns="0" bIns="0">
            <a:spAutoFit/>
          </a:bodyPr>
          <a:lstStyle/>
          <a:p>
            <a:pPr>
              <a:spcAft>
                <a:spcPts val="200"/>
              </a:spcAft>
              <a:defRPr sz="2800" b="1">
                <a:solidFill>
                  <a:srgbClr val="FFD640"/>
                </a:solidFill>
                <a:latin typeface="Manrope"/>
              </a:defRPr>
            </a:pPr>
            <a:r>
              <a:t>0</a:t>
            </a:r>
          </a:p>
          <a:p>
            <a:pPr>
              <a:spcAft>
                <a:spcPts val="100"/>
              </a:spcAft>
              <a:defRPr sz="1000" b="1">
                <a:solidFill>
                  <a:srgbClr val="FFFFFF"/>
                </a:solidFill>
                <a:latin typeface="Manrope"/>
              </a:defRPr>
            </a:pPr>
            <a:r>
              <a:t>FORMAT INNOVATION RIVALS</a:t>
            </a:r>
          </a:p>
          <a:p>
            <a:pPr>
              <a:defRPr sz="950">
                <a:solidFill>
                  <a:srgbClr val="D8B4FE"/>
                </a:solidFill>
                <a:latin typeface="Manrope"/>
              </a:defRPr>
            </a:pPr>
            <a:r>
              <a:t>154 existing products; zero peel-and-press</a:t>
            </a:r>
          </a:p>
        </p:txBody>
      </p:sp>
      <p:sp>
        <p:nvSpPr>
          <p:cNvPr id="11" name="Rounded Rectangle 10"/>
          <p:cNvSpPr/>
          <p:nvPr/>
        </p:nvSpPr>
        <p:spPr>
          <a:xfrm>
            <a:off x="731520" y="3154680"/>
            <a:ext cx="5212080" cy="315468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383280"/>
            <a:ext cx="4572000" cy="2697480"/>
          </a:xfrm>
          <a:prstGeom prst="rect">
            <a:avLst/>
          </a:prstGeom>
          <a:noFill/>
        </p:spPr>
        <p:txBody>
          <a:bodyPr wrap="square" lIns="0" tIns="0" rIns="0" bIns="0">
            <a:spAutoFit/>
          </a:bodyPr>
          <a:lstStyle/>
          <a:p>
            <a:pPr>
              <a:spcAft>
                <a:spcPts val="800"/>
              </a:spcAft>
              <a:defRPr sz="1700" b="1">
                <a:solidFill>
                  <a:srgbClr val="E24BFF"/>
                </a:solidFill>
                <a:latin typeface="Manrope"/>
              </a:defRPr>
            </a:pPr>
            <a:r>
              <a:t>Commercial Model &amp; Margins</a:t>
            </a:r>
          </a:p>
          <a:p>
            <a:pPr>
              <a:spcAft>
                <a:spcPts val="600"/>
              </a:spcAft>
              <a:defRPr sz="1100" b="1">
                <a:solidFill>
                  <a:srgbClr val="FFFFFF"/>
                </a:solidFill>
                <a:latin typeface="Manrope"/>
              </a:defRPr>
            </a:pPr>
            <a:r>
              <a:t>• Retail Pricing: </a:t>
            </a:r>
            <a:r>
              <a:rPr sz="1050" b="0">
                <a:solidFill>
                  <a:srgbClr val="E9D5FF"/>
                </a:solidFill>
                <a:latin typeface="Manrope"/>
              </a:rPr>
              <a:t>$5.00 NZD per 80 g sheet (8 stamps = 63¢ per toast portion). Highly accessible impulse price point for students and commuters.</a:t>
            </a:r>
          </a:p>
          <a:p>
            <a:pPr>
              <a:spcAft>
                <a:spcPts val="600"/>
              </a:spcAft>
              <a:defRPr sz="1100" b="1">
                <a:solidFill>
                  <a:srgbClr val="FFFFFF"/>
                </a:solidFill>
                <a:latin typeface="Manrope"/>
              </a:defRPr>
            </a:pPr>
            <a:r>
              <a:t>• Format Innovation Premium: </a:t>
            </a:r>
            <a:r>
              <a:rPr sz="1050" b="0">
                <a:solidFill>
                  <a:srgbClr val="E9D5FF"/>
                </a:solidFill>
                <a:latin typeface="Manrope"/>
              </a:rPr>
              <a:t>$6.25 NZD per 100 g. Commands a premium above the category's 90th percentile ($5.19/100g) because consumers buy convenience, not bulk volume.</a:t>
            </a:r>
          </a:p>
          <a:p>
            <a:pPr>
              <a:spcAft>
                <a:spcPts val="600"/>
              </a:spcAft>
              <a:defRPr sz="1100" b="1">
                <a:solidFill>
                  <a:srgbClr val="FFFFFF"/>
                </a:solidFill>
                <a:latin typeface="Manrope"/>
              </a:defRPr>
            </a:pPr>
            <a:r>
              <a:t>• Strong Unit Economics: </a:t>
            </a:r>
            <a:r>
              <a:rPr sz="1050" b="0">
                <a:solidFill>
                  <a:srgbClr val="E9D5FF"/>
                </a:solidFill>
                <a:latin typeface="Manrope"/>
              </a:rPr>
              <a:t>At an assumed $1.50 contract manufacturing benchmark and 35% supermarket margin, Stamp retains a healthy $1.75 gross contribution per sheet.</a:t>
            </a:r>
          </a:p>
        </p:txBody>
      </p:sp>
      <p:sp>
        <p:nvSpPr>
          <p:cNvPr id="13" name="Rounded Rectangle 12"/>
          <p:cNvSpPr/>
          <p:nvPr/>
        </p:nvSpPr>
        <p:spPr>
          <a:xfrm>
            <a:off x="6217920" y="3154680"/>
            <a:ext cx="5212080" cy="315468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02-spreads-revenue-by-tier-2022-vs-2025.png"/>
          <p:cNvPicPr>
            <a:picLocks noChangeAspect="1"/>
          </p:cNvPicPr>
          <p:nvPr/>
        </p:nvPicPr>
        <p:blipFill>
          <a:blip r:embed="rId2"/>
          <a:stretch>
            <a:fillRect/>
          </a:stretch>
        </p:blipFill>
        <p:spPr>
          <a:xfrm>
            <a:off x="6355080" y="3291840"/>
            <a:ext cx="4937760" cy="278838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40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5394960" cy="329184"/>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wrap="none" lIns="137160" rIns="137160"/>
          <a:lstStyle/>
          <a:p>
            <a:pPr algn="ctr">
              <a:defRPr sz="1050" b="1">
                <a:solidFill>
                  <a:srgbClr val="FFD640"/>
                </a:solidFill>
                <a:latin typeface="Manrope"/>
              </a:defRPr>
            </a:pPr>
            <a:r>
              <a:t>PERSONAL REFLECTION • PART 2 (STUDENT'S OWN VOICE)</a:t>
            </a:r>
          </a:p>
        </p:txBody>
      </p:sp>
      <p:sp>
        <p:nvSpPr>
          <p:cNvPr id="4" name="TextBox 3"/>
          <p:cNvSpPr txBox="1"/>
          <p:nvPr/>
        </p:nvSpPr>
        <p:spPr>
          <a:xfrm>
            <a:off x="731520" y="859536"/>
            <a:ext cx="10698480" cy="960120"/>
          </a:xfrm>
          <a:prstGeom prst="rect">
            <a:avLst/>
          </a:prstGeom>
          <a:noFill/>
        </p:spPr>
        <p:txBody>
          <a:bodyPr wrap="square" lIns="0" tIns="0" rIns="0" bIns="0">
            <a:spAutoFit/>
          </a:bodyPr>
          <a:lstStyle/>
          <a:p>
            <a:pPr>
              <a:spcAft>
                <a:spcPts val="200"/>
              </a:spcAft>
              <a:defRPr sz="2600" b="1">
                <a:solidFill>
                  <a:srgbClr val="FFFFFF"/>
                </a:solidFill>
                <a:latin typeface="Manrope"/>
              </a:defRPr>
            </a:pPr>
            <a:r>
              <a:t>Reflection Q1: Steering &amp; Fact-Checking Generative AI</a:t>
            </a:r>
          </a:p>
          <a:p>
            <a:pPr>
              <a:defRPr sz="1300">
                <a:solidFill>
                  <a:srgbClr val="D8B4FE"/>
                </a:solidFill>
                <a:latin typeface="Manrope"/>
              </a:defRPr>
            </a:pPr>
            <a:r>
              <a:t>Prompting architectures, context engineering, session partitioning, and verification.</a:t>
            </a:r>
          </a:p>
        </p:txBody>
      </p:sp>
      <p:sp>
        <p:nvSpPr>
          <p:cNvPr id="5" name="Rounded Rectangle 4"/>
          <p:cNvSpPr/>
          <p:nvPr/>
        </p:nvSpPr>
        <p:spPr>
          <a:xfrm>
            <a:off x="731520" y="1645920"/>
            <a:ext cx="5669280" cy="329184"/>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wrap="none" lIns="137160" rIns="137160"/>
          <a:lstStyle/>
          <a:p>
            <a:pPr algn="ctr">
              <a:defRPr sz="1050" b="1">
                <a:solidFill>
                  <a:srgbClr val="FFD640"/>
                </a:solidFill>
                <a:latin typeface="Manrope"/>
              </a:defRPr>
            </a:pPr>
            <a:r>
              <a:t>TALKING-HEAD CUES • DELIVERED IN PERSONAL VOICE WITHOUT AI GENERATION</a:t>
            </a:r>
          </a:p>
        </p:txBody>
      </p:sp>
      <p:sp>
        <p:nvSpPr>
          <p:cNvPr id="6" name="Rounded Rectangle 5"/>
          <p:cNvSpPr/>
          <p:nvPr/>
        </p:nvSpPr>
        <p:spPr>
          <a:xfrm>
            <a:off x="731520" y="2103120"/>
            <a:ext cx="3383280" cy="420624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331720"/>
            <a:ext cx="2926080" cy="3749040"/>
          </a:xfrm>
          <a:prstGeom prst="rect">
            <a:avLst/>
          </a:prstGeom>
          <a:noFill/>
        </p:spPr>
        <p:txBody>
          <a:bodyPr wrap="square" lIns="0" tIns="0" rIns="0" bIns="0">
            <a:spAutoFit/>
          </a:bodyPr>
          <a:lstStyle/>
          <a:p>
            <a:pPr>
              <a:spcAft>
                <a:spcPts val="1200"/>
              </a:spcAft>
              <a:defRPr sz="1700" b="1">
                <a:solidFill>
                  <a:srgbClr val="E24BFF"/>
                </a:solidFill>
                <a:latin typeface="Manrope"/>
              </a:defRPr>
            </a:pPr>
            <a:r>
              <a:t>Context &amp; Steering</a:t>
            </a:r>
          </a:p>
          <a:p>
            <a:pPr>
              <a:spcAft>
                <a:spcPts val="800"/>
              </a:spcAft>
              <a:defRPr sz="1150" b="1">
                <a:solidFill>
                  <a:srgbClr val="FFFFFF"/>
                </a:solidFill>
                <a:latin typeface="Manrope"/>
              </a:defRPr>
            </a:pPr>
            <a:r>
              <a:t>• Role Personas &amp; Negative Constraints</a:t>
            </a:r>
            <a:br/>
            <a:r>
              <a:rPr sz="1000" b="0">
                <a:solidFill>
                  <a:srgbClr val="E9D5FF"/>
                </a:solidFill>
                <a:latin typeface="Manrope"/>
              </a:rPr>
              <a:t>Enforcing strict bans against health claims, therapeutic benefits, and certification badges to avoid marketing hallucinations.</a:t>
            </a:r>
          </a:p>
          <a:p>
            <a:pPr>
              <a:spcAft>
                <a:spcPts val="800"/>
              </a:spcAft>
              <a:defRPr sz="1150" b="1">
                <a:solidFill>
                  <a:srgbClr val="FFFFFF"/>
                </a:solidFill>
                <a:latin typeface="Manrope"/>
              </a:defRPr>
            </a:pPr>
            <a:r>
              <a:t>• Session Partitioning</a:t>
            </a:r>
            <a:br/>
            <a:r>
              <a:rPr sz="1000" b="0">
                <a:solidFill>
                  <a:srgbClr val="E9D5FF"/>
                </a:solidFill>
                <a:latin typeface="Manrope"/>
              </a:rPr>
              <a:t>Isolating data cleaning, brand spec, and copywriting into modular sessions to eliminate context drift across complex multi-step workflows.</a:t>
            </a:r>
          </a:p>
          <a:p>
            <a:pPr>
              <a:spcAft>
                <a:spcPts val="800"/>
              </a:spcAft>
              <a:defRPr sz="1150" b="1">
                <a:solidFill>
                  <a:srgbClr val="FFFFFF"/>
                </a:solidFill>
                <a:latin typeface="Manrope"/>
              </a:defRPr>
            </a:pPr>
            <a:r>
              <a:t>• Locked Specification Artifact</a:t>
            </a:r>
            <a:br/>
            <a:r>
              <a:rPr sz="1000" b="0">
                <a:solidFill>
                  <a:srgbClr val="E9D5FF"/>
                </a:solidFill>
                <a:latin typeface="Manrope"/>
              </a:rPr>
              <a:t>Maintaining a single source of truth across all tasks to ensure product metrics stayed rock-solid.</a:t>
            </a:r>
          </a:p>
        </p:txBody>
      </p:sp>
      <p:sp>
        <p:nvSpPr>
          <p:cNvPr id="8" name="Rounded Rectangle 7"/>
          <p:cNvSpPr/>
          <p:nvPr/>
        </p:nvSpPr>
        <p:spPr>
          <a:xfrm>
            <a:off x="4389120" y="2103120"/>
            <a:ext cx="3383280" cy="420624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2331720"/>
            <a:ext cx="2926080" cy="3749040"/>
          </a:xfrm>
          <a:prstGeom prst="rect">
            <a:avLst/>
          </a:prstGeom>
          <a:noFill/>
        </p:spPr>
        <p:txBody>
          <a:bodyPr wrap="square" lIns="0" tIns="0" rIns="0" bIns="0">
            <a:spAutoFit/>
          </a:bodyPr>
          <a:lstStyle/>
          <a:p>
            <a:pPr>
              <a:spcAft>
                <a:spcPts val="1200"/>
              </a:spcAft>
              <a:defRPr sz="1700" b="1">
                <a:solidFill>
                  <a:srgbClr val="FFD640"/>
                </a:solidFill>
                <a:latin typeface="Manrope"/>
              </a:defRPr>
            </a:pPr>
            <a:r>
              <a:t>Verification &amp; Turning Point</a:t>
            </a:r>
          </a:p>
          <a:p>
            <a:pPr>
              <a:spcAft>
                <a:spcPts val="800"/>
              </a:spcAft>
              <a:defRPr sz="1150" b="1">
                <a:solidFill>
                  <a:srgbClr val="FFFFFF"/>
                </a:solidFill>
                <a:latin typeface="Manrope"/>
              </a:defRPr>
            </a:pPr>
            <a:r>
              <a:t>• Auditing Raw Data Outliers</a:t>
            </a:r>
            <a:br/>
            <a:r>
              <a:rPr sz="1000" b="0">
                <a:solidFill>
                  <a:srgbClr val="E9D5FF"/>
                </a:solidFill>
                <a:latin typeface="Manrope"/>
              </a:rPr>
              <a:t>Detecting aberrant price spikes (&gt;$40) and uncleaned sales sums rather than blindly trusting unvalidated model aggregations.</a:t>
            </a:r>
          </a:p>
          <a:p>
            <a:pPr>
              <a:spcAft>
                <a:spcPts val="800"/>
              </a:spcAft>
              <a:defRPr sz="1150" b="1">
                <a:solidFill>
                  <a:srgbClr val="FFFFFF"/>
                </a:solidFill>
                <a:latin typeface="Manrope"/>
              </a:defRPr>
            </a:pPr>
            <a:r>
              <a:t>• The Specific Turning Point</a:t>
            </a:r>
            <a:br/>
            <a:r>
              <a:rPr sz="1000" b="0">
                <a:solidFill>
                  <a:srgbClr val="E9D5FF"/>
                </a:solidFill>
                <a:latin typeface="Manrope"/>
              </a:rPr>
              <a:t>Catching hallucinated ambient table butter stability; forcing reformulation into cultured dairy spread to meet ambient shelf life.</a:t>
            </a:r>
          </a:p>
          <a:p>
            <a:pPr>
              <a:spcAft>
                <a:spcPts val="800"/>
              </a:spcAft>
              <a:defRPr sz="1150" b="1">
                <a:solidFill>
                  <a:srgbClr val="FFFFFF"/>
                </a:solidFill>
                <a:latin typeface="Manrope"/>
              </a:defRPr>
            </a:pPr>
            <a:r>
              <a:t>• Independent Fact-Checking</a:t>
            </a:r>
            <a:br/>
            <a:r>
              <a:rPr sz="1000" b="0">
                <a:solidFill>
                  <a:srgbClr val="E9D5FF"/>
                </a:solidFill>
                <a:latin typeface="Manrope"/>
              </a:rPr>
              <a:t>Manually cross-referencing competitor shelf pricing directly against New World retail databases.</a:t>
            </a:r>
          </a:p>
        </p:txBody>
      </p:sp>
      <p:sp>
        <p:nvSpPr>
          <p:cNvPr id="10" name="Rounded Rectangle 9"/>
          <p:cNvSpPr/>
          <p:nvPr/>
        </p:nvSpPr>
        <p:spPr>
          <a:xfrm>
            <a:off x="8046720" y="2103120"/>
            <a:ext cx="3383280" cy="420624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20" y="2331720"/>
            <a:ext cx="2926080" cy="3749040"/>
          </a:xfrm>
          <a:prstGeom prst="rect">
            <a:avLst/>
          </a:prstGeom>
          <a:noFill/>
        </p:spPr>
        <p:txBody>
          <a:bodyPr wrap="square" lIns="0" tIns="0" rIns="0" bIns="0">
            <a:spAutoFit/>
          </a:bodyPr>
          <a:lstStyle/>
          <a:p>
            <a:pPr>
              <a:spcAft>
                <a:spcPts val="1200"/>
              </a:spcAft>
              <a:defRPr sz="1700" b="1">
                <a:solidFill>
                  <a:srgbClr val="FF467A"/>
                </a:solidFill>
                <a:latin typeface="Manrope"/>
              </a:defRPr>
            </a:pPr>
            <a:r>
              <a:t>Key Lessons Learned</a:t>
            </a:r>
          </a:p>
          <a:p>
            <a:pPr>
              <a:spcAft>
                <a:spcPts val="800"/>
              </a:spcAft>
              <a:defRPr sz="1150" b="1">
                <a:solidFill>
                  <a:srgbClr val="FFFFFF"/>
                </a:solidFill>
                <a:latin typeface="Manrope"/>
              </a:defRPr>
            </a:pPr>
            <a:r>
              <a:t>• AI as Drafter, Not Director</a:t>
            </a:r>
            <a:br/>
            <a:r>
              <a:rPr sz="1000" b="0">
                <a:solidFill>
                  <a:srgbClr val="E9D5FF"/>
                </a:solidFill>
                <a:latin typeface="Manrope"/>
              </a:rPr>
              <a:t>Treating model outputs strictly as initial draft hypotheses that require empirical verification and human discernment.</a:t>
            </a:r>
          </a:p>
          <a:p>
            <a:pPr>
              <a:spcAft>
                <a:spcPts val="800"/>
              </a:spcAft>
              <a:defRPr sz="1150" b="1">
                <a:solidFill>
                  <a:srgbClr val="FFFFFF"/>
                </a:solidFill>
                <a:latin typeface="Manrope"/>
              </a:defRPr>
            </a:pPr>
            <a:r>
              <a:t>• Hybrid AI Architecture</a:t>
            </a:r>
            <a:br/>
            <a:r>
              <a:rPr sz="1000" b="0">
                <a:solidFill>
                  <a:srgbClr val="E9D5FF"/>
                </a:solidFill>
                <a:latin typeface="Manrope"/>
              </a:rPr>
              <a:t>Pairing OpenRouter API customer support with locked system prompts and deterministic fallback logic.</a:t>
            </a:r>
          </a:p>
          <a:p>
            <a:pPr>
              <a:spcAft>
                <a:spcPts val="800"/>
              </a:spcAft>
              <a:defRPr sz="1150" b="1">
                <a:solidFill>
                  <a:srgbClr val="FFFFFF"/>
                </a:solidFill>
                <a:latin typeface="Manrope"/>
              </a:defRPr>
            </a:pPr>
            <a:r>
              <a:t>• What I Would Do Differently</a:t>
            </a:r>
            <a:br/>
            <a:r>
              <a:rPr sz="1000" b="0">
                <a:solidFill>
                  <a:srgbClr val="E9D5FF"/>
                </a:solidFill>
                <a:latin typeface="Manrope"/>
              </a:rPr>
              <a:t>Establishing rigid data schemas and explicit verification tests before running exploratory generation.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40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57200"/>
            <a:ext cx="5394960" cy="329184"/>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wrap="none" lIns="137160" rIns="137160"/>
          <a:lstStyle/>
          <a:p>
            <a:pPr algn="ctr">
              <a:defRPr sz="1050" b="1">
                <a:solidFill>
                  <a:srgbClr val="FF467A"/>
                </a:solidFill>
                <a:latin typeface="Manrope"/>
              </a:defRPr>
            </a:pPr>
            <a:r>
              <a:t>PERSONAL REFLECTION • PART 2 (STUDENT'S OWN VOICE)</a:t>
            </a:r>
          </a:p>
        </p:txBody>
      </p:sp>
      <p:sp>
        <p:nvSpPr>
          <p:cNvPr id="4" name="TextBox 3"/>
          <p:cNvSpPr txBox="1"/>
          <p:nvPr/>
        </p:nvSpPr>
        <p:spPr>
          <a:xfrm>
            <a:off x="731520" y="859536"/>
            <a:ext cx="10698480" cy="960120"/>
          </a:xfrm>
          <a:prstGeom prst="rect">
            <a:avLst/>
          </a:prstGeom>
          <a:noFill/>
        </p:spPr>
        <p:txBody>
          <a:bodyPr wrap="square" lIns="0" tIns="0" rIns="0" bIns="0">
            <a:spAutoFit/>
          </a:bodyPr>
          <a:lstStyle/>
          <a:p>
            <a:pPr>
              <a:spcAft>
                <a:spcPts val="200"/>
              </a:spcAft>
              <a:defRPr sz="2600" b="1">
                <a:solidFill>
                  <a:srgbClr val="FFFFFF"/>
                </a:solidFill>
                <a:latin typeface="Manrope"/>
              </a:defRPr>
            </a:pPr>
            <a:r>
              <a:t>Reflection Q2: Authenticity, AI Slop &amp; Knowledge Worker Ethics</a:t>
            </a:r>
          </a:p>
          <a:p>
            <a:pPr>
              <a:defRPr sz="1300">
                <a:solidFill>
                  <a:srgbClr val="D8B4FE"/>
                </a:solidFill>
                <a:latin typeface="Manrope"/>
              </a:defRPr>
            </a:pPr>
            <a:r>
              <a:t>Combating generic marketing cliches, regulatory food liabilities, and human accountability.</a:t>
            </a:r>
          </a:p>
        </p:txBody>
      </p:sp>
      <p:sp>
        <p:nvSpPr>
          <p:cNvPr id="5" name="Rounded Rectangle 4"/>
          <p:cNvSpPr/>
          <p:nvPr/>
        </p:nvSpPr>
        <p:spPr>
          <a:xfrm>
            <a:off x="731520" y="1645920"/>
            <a:ext cx="5669280" cy="329184"/>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wrap="none" lIns="137160" rIns="137160"/>
          <a:lstStyle/>
          <a:p>
            <a:pPr algn="ctr">
              <a:defRPr sz="1050" b="1">
                <a:solidFill>
                  <a:srgbClr val="FFD640"/>
                </a:solidFill>
                <a:latin typeface="Manrope"/>
              </a:defRPr>
            </a:pPr>
            <a:r>
              <a:t>TALKING-HEAD CUES • DELIVERED IN PERSONAL VOICE WITHOUT AI GENERATION</a:t>
            </a:r>
          </a:p>
        </p:txBody>
      </p:sp>
      <p:sp>
        <p:nvSpPr>
          <p:cNvPr id="6" name="Rounded Rectangle 5"/>
          <p:cNvSpPr/>
          <p:nvPr/>
        </p:nvSpPr>
        <p:spPr>
          <a:xfrm>
            <a:off x="731520" y="2103120"/>
            <a:ext cx="3383280" cy="420624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331720"/>
            <a:ext cx="2926080" cy="3749040"/>
          </a:xfrm>
          <a:prstGeom prst="rect">
            <a:avLst/>
          </a:prstGeom>
          <a:noFill/>
        </p:spPr>
        <p:txBody>
          <a:bodyPr wrap="square" lIns="0" tIns="0" rIns="0" bIns="0">
            <a:spAutoFit/>
          </a:bodyPr>
          <a:lstStyle/>
          <a:p>
            <a:pPr>
              <a:spcAft>
                <a:spcPts val="1200"/>
              </a:spcAft>
              <a:defRPr sz="1700" b="1">
                <a:solidFill>
                  <a:srgbClr val="FF467A"/>
                </a:solidFill>
                <a:latin typeface="Manrope"/>
              </a:defRPr>
            </a:pPr>
            <a:r>
              <a:t>Combating 'AI Slop'</a:t>
            </a:r>
          </a:p>
          <a:p>
            <a:pPr>
              <a:spcAft>
                <a:spcPts val="800"/>
              </a:spcAft>
              <a:defRPr sz="1150" b="1">
                <a:solidFill>
                  <a:srgbClr val="FFFFFF"/>
                </a:solidFill>
                <a:latin typeface="Manrope"/>
              </a:defRPr>
            </a:pPr>
            <a:r>
              <a:t>• Stripping Marketing Clichés</a:t>
            </a:r>
            <a:br/>
            <a:r>
              <a:rPr sz="1000" b="0">
                <a:solidFill>
                  <a:srgbClr val="E9D5FF"/>
                </a:solidFill>
                <a:latin typeface="Manrope"/>
              </a:rPr>
              <a:t>Actively rejecting hyperbolic corporate fluff ('revolutionizing breakfast journeys') in favor of plain, punchy facts: 'Peel. Press. Toast.'</a:t>
            </a:r>
          </a:p>
          <a:p>
            <a:pPr>
              <a:spcAft>
                <a:spcPts val="800"/>
              </a:spcAft>
              <a:defRPr sz="1150" b="1">
                <a:solidFill>
                  <a:srgbClr val="FFFFFF"/>
                </a:solidFill>
                <a:latin typeface="Manrope"/>
              </a:defRPr>
            </a:pPr>
            <a:r>
              <a:t>• Authentic Physical Constraints</a:t>
            </a:r>
            <a:br/>
            <a:r>
              <a:rPr sz="1000" b="0">
                <a:solidFill>
                  <a:srgbClr val="E9D5FF"/>
                </a:solidFill>
                <a:latin typeface="Manrope"/>
              </a:rPr>
              <a:t>Anchoring packaging in real industrial constraints (continuous deposit tooling, release film) rather than impossible AI mockups.</a:t>
            </a:r>
          </a:p>
          <a:p>
            <a:pPr>
              <a:spcAft>
                <a:spcPts val="800"/>
              </a:spcAft>
              <a:defRPr sz="1150" b="1">
                <a:solidFill>
                  <a:srgbClr val="FFFFFF"/>
                </a:solidFill>
                <a:latin typeface="Manrope"/>
              </a:defRPr>
            </a:pPr>
            <a:r>
              <a:t>• Deliberate Brand Personality</a:t>
            </a:r>
            <a:br/>
            <a:r>
              <a:rPr sz="1000" b="0">
                <a:solidFill>
                  <a:srgbClr val="E9D5FF"/>
                </a:solidFill>
                <a:latin typeface="Manrope"/>
              </a:rPr>
              <a:t>Injecting bold, high-contrast visual identity and off-beat jingle tone to stand out from generic AI aesthetics.</a:t>
            </a:r>
          </a:p>
        </p:txBody>
      </p:sp>
      <p:sp>
        <p:nvSpPr>
          <p:cNvPr id="8" name="Rounded Rectangle 7"/>
          <p:cNvSpPr/>
          <p:nvPr/>
        </p:nvSpPr>
        <p:spPr>
          <a:xfrm>
            <a:off x="4389120" y="2103120"/>
            <a:ext cx="3383280" cy="420624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2331720"/>
            <a:ext cx="2926080" cy="3749040"/>
          </a:xfrm>
          <a:prstGeom prst="rect">
            <a:avLst/>
          </a:prstGeom>
          <a:noFill/>
        </p:spPr>
        <p:txBody>
          <a:bodyPr wrap="square" lIns="0" tIns="0" rIns="0" bIns="0">
            <a:spAutoFit/>
          </a:bodyPr>
          <a:lstStyle/>
          <a:p>
            <a:pPr>
              <a:spcAft>
                <a:spcPts val="1200"/>
              </a:spcAft>
              <a:defRPr sz="1700" b="1">
                <a:solidFill>
                  <a:srgbClr val="FFD640"/>
                </a:solidFill>
                <a:latin typeface="Manrope"/>
              </a:defRPr>
            </a:pPr>
            <a:r>
              <a:t>Regulatory &amp; Legal Risks</a:t>
            </a:r>
          </a:p>
          <a:p>
            <a:pPr>
              <a:spcAft>
                <a:spcPts val="800"/>
              </a:spcAft>
              <a:defRPr sz="1150" b="1">
                <a:solidFill>
                  <a:srgbClr val="FFFFFF"/>
                </a:solidFill>
                <a:latin typeface="Manrope"/>
              </a:defRPr>
            </a:pPr>
            <a:r>
              <a:t>• Food Hallucination Dangers</a:t>
            </a:r>
            <a:br/>
            <a:r>
              <a:rPr sz="1000" b="0">
                <a:solidFill>
                  <a:srgbClr val="E9D5FF"/>
                </a:solidFill>
                <a:latin typeface="Manrope"/>
              </a:rPr>
              <a:t>Unchecked models frequently invent fake organic labels, false 'gluten-free' badges, or illegal therapeutic health claims.</a:t>
            </a:r>
          </a:p>
          <a:p>
            <a:pPr>
              <a:spcAft>
                <a:spcPts val="800"/>
              </a:spcAft>
              <a:defRPr sz="1150" b="1">
                <a:solidFill>
                  <a:srgbClr val="FFFFFF"/>
                </a:solidFill>
                <a:latin typeface="Manrope"/>
              </a:defRPr>
            </a:pPr>
            <a:r>
              <a:t>• Strict FSANZ Compliance</a:t>
            </a:r>
            <a:br/>
            <a:r>
              <a:rPr sz="1000" b="0">
                <a:solidFill>
                  <a:srgbClr val="E9D5FF"/>
                </a:solidFill>
                <a:latin typeface="Manrope"/>
              </a:rPr>
              <a:t>Enforcing Food Standards Australia New Zealand labeling laws: distinguishing dairy spread from refrigerated table butter.</a:t>
            </a:r>
          </a:p>
          <a:p>
            <a:pPr>
              <a:spcAft>
                <a:spcPts val="800"/>
              </a:spcAft>
              <a:defRPr sz="1150" b="1">
                <a:solidFill>
                  <a:srgbClr val="FFFFFF"/>
                </a:solidFill>
                <a:latin typeface="Manrope"/>
              </a:defRPr>
            </a:pPr>
            <a:r>
              <a:t>• Allergen Responsibility</a:t>
            </a:r>
            <a:br/>
            <a:r>
              <a:rPr sz="1000" b="0">
                <a:solidFill>
                  <a:srgbClr val="E9D5FF"/>
                </a:solidFill>
                <a:latin typeface="Manrope"/>
              </a:rPr>
              <a:t>Ensuring life-threatening peanut and gluten disclosures were prominent and never obscured by AI optimism.</a:t>
            </a:r>
          </a:p>
        </p:txBody>
      </p:sp>
      <p:sp>
        <p:nvSpPr>
          <p:cNvPr id="10" name="Rounded Rectangle 9"/>
          <p:cNvSpPr/>
          <p:nvPr/>
        </p:nvSpPr>
        <p:spPr>
          <a:xfrm>
            <a:off x="8046720" y="2103120"/>
            <a:ext cx="3383280" cy="4206240"/>
          </a:xfrm>
          <a:prstGeom prst="roundRect">
            <a:avLst/>
          </a:prstGeom>
          <a:solidFill>
            <a:srgbClr val="3B07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20" y="2331720"/>
            <a:ext cx="2926080" cy="3749040"/>
          </a:xfrm>
          <a:prstGeom prst="rect">
            <a:avLst/>
          </a:prstGeom>
          <a:noFill/>
        </p:spPr>
        <p:txBody>
          <a:bodyPr wrap="square" lIns="0" tIns="0" rIns="0" bIns="0">
            <a:spAutoFit/>
          </a:bodyPr>
          <a:lstStyle/>
          <a:p>
            <a:pPr>
              <a:spcAft>
                <a:spcPts val="1200"/>
              </a:spcAft>
              <a:defRPr sz="1700" b="1">
                <a:solidFill>
                  <a:srgbClr val="FF8C30"/>
                </a:solidFill>
                <a:latin typeface="Manrope"/>
              </a:defRPr>
            </a:pPr>
            <a:r>
              <a:t>Ethics &amp; Future Work</a:t>
            </a:r>
          </a:p>
          <a:p>
            <a:pPr>
              <a:spcAft>
                <a:spcPts val="800"/>
              </a:spcAft>
              <a:defRPr sz="1150" b="1">
                <a:solidFill>
                  <a:srgbClr val="FFFFFF"/>
                </a:solidFill>
                <a:latin typeface="Manrope"/>
              </a:defRPr>
            </a:pPr>
            <a:r>
              <a:t>• Non-Delegable Accountability</a:t>
            </a:r>
            <a:br/>
            <a:r>
              <a:rPr sz="1000" b="0">
                <a:solidFill>
                  <a:srgbClr val="E9D5FF"/>
                </a:solidFill>
                <a:latin typeface="Manrope"/>
              </a:rPr>
              <a:t>When deploying AI commercially, legal, moral, and customer accountability can never be outsourced to an algorithm.</a:t>
            </a:r>
          </a:p>
          <a:p>
            <a:pPr>
              <a:spcAft>
                <a:spcPts val="800"/>
              </a:spcAft>
              <a:defRPr sz="1150" b="1">
                <a:solidFill>
                  <a:srgbClr val="FFFFFF"/>
                </a:solidFill>
                <a:latin typeface="Manrope"/>
              </a:defRPr>
            </a:pPr>
            <a:r>
              <a:t>• Critical Thinking as Core Skill</a:t>
            </a:r>
            <a:br/>
            <a:r>
              <a:rPr sz="1000" b="0">
                <a:solidFill>
                  <a:srgbClr val="E9D5FF"/>
                </a:solidFill>
                <a:latin typeface="Manrope"/>
              </a:rPr>
              <a:t>The primary value of the modern knowledge worker is skepticism, verification, taste, and boundary enforcement.</a:t>
            </a:r>
          </a:p>
          <a:p>
            <a:pPr>
              <a:spcAft>
                <a:spcPts val="800"/>
              </a:spcAft>
              <a:defRPr sz="1150" b="1">
                <a:solidFill>
                  <a:srgbClr val="FFFFFF"/>
                </a:solidFill>
                <a:latin typeface="Manrope"/>
              </a:defRPr>
            </a:pPr>
            <a:r>
              <a:t>• Human Agency</a:t>
            </a:r>
            <a:br/>
            <a:r>
              <a:rPr sz="1000" b="0">
                <a:solidFill>
                  <a:srgbClr val="E9D5FF"/>
                </a:solidFill>
                <a:latin typeface="Manrope"/>
              </a:rPr>
              <a:t>Leveraging generative AI for execution velocity while retaining complete personal ownership of the final result.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