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(0:00–0:10)</a:t>
            </a:r>
          </a:p>
          <a:p>
            <a:r>
              <a:t>Welcome. I'm Jacob, and this is Stamp: a New Zealand breakfast spread innovation designed for hot toast. Over the next minute, I'll walk you through our product and market opportunity, followed by my personal reflection on building with generative 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PITCH SLIDE 1 (0:10–0:30)</a:t>
            </a:r>
          </a:p>
          <a:p>
            <a:r>
              <a:t>Eating toast away from a kitchen is broken: you have to carry a heavy jar, find a knife, and wash it in an office or hall sink. Stamp fixes this with a peel-and-press spread disc. You peel a 10-gram portion off the release film, press it directly onto hot toast, and the heat melts it into an even layer in seconds. We launch with four distinct flavours: Salted Butter, Raspberry, Yeast extract, and Peanut—all packaged in an 8-stamp card sheet with a 12-month pantry shelf life.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PITCH SLIDE 2 (0:30–1:00)</a:t>
            </a:r>
          </a:p>
          <a:p>
            <a:r>
              <a:t>Our analysis of New Zealand breakfast retail sales shows spreads grew 24% to 341 million dollars, with the premium tier expanding to 113 million. Yet out of 154 existing spread products, not one offers a portion format. Jars like Fix and Fogg or Pic's are cheaper per 100 grams, but they're bulky and messy. At 5 dollars a sheet, or 63 cents a toast portion, Stamp captures premium convenience for commuters, students, and desk workers. With a healthy 1.75 contribution margin per sheet, Stamp is ready to lead an entirely new format in breakfast.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REFLECTION Q1 (1:00–1:55)</a:t>
            </a:r>
          </a:p>
          <a:p>
            <a:r>
              <a:t>[Jacob's personal reflection: speak directly to camera about your AI steering experience.]</a:t>
            </a:r>
          </a:p>
          <a:p>
            <a:r>
              <a:t>Key speaking cues:</a:t>
            </a:r>
          </a:p>
          <a:p>
            <a:r>
              <a:t>1. Discuss how you structured sessions to avoid context rot across tasks.</a:t>
            </a:r>
          </a:p>
          <a:p>
            <a:r>
              <a:t>2. Detail the pivotal moment where you caught a major AI mistake (e.g. invalid pricing assumptions, unrealistic manufacturing claims, or raw data price spikes) and how you corrected it.</a:t>
            </a:r>
          </a:p>
          <a:p>
            <a:r>
              <a:t>3. Share the single most important lesson you will carry into future professional AI projects.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REFLECTION Q2 (1:55–2:50)</a:t>
            </a:r>
          </a:p>
          <a:p>
            <a:r>
              <a:t>[Jacob's personal reflection: speak directly to camera on authenticity and ethics.]</a:t>
            </a:r>
          </a:p>
          <a:p>
            <a:r>
              <a:t>Key speaking cues:</a:t>
            </a:r>
          </a:p>
          <a:p>
            <a:r>
              <a:t>1. How did you actively prevent AI slop from entering Stamp's branding and copy?</a:t>
            </a:r>
          </a:p>
          <a:p>
            <a:r>
              <a:t>2. Address the severe ethical/legal risks of AI generating food claims (allergens, false certifications).</a:t>
            </a:r>
          </a:p>
          <a:p>
            <a:r>
              <a:t>3. Conclude with your personal stance as a future knowledge worker on ethics and responsibility.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0764"/>
          </a:solidFill>
          <a:ln>
            <a:solidFill>
              <a:srgbClr val="3B076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 y="1463040"/>
            <a:ext cx="1371600" cy="73152"/>
          </a:xfrm>
          <a:prstGeom prst="rect">
            <a:avLst/>
          </a:prstGeom>
          <a:solidFill>
            <a:srgbClr val="E24BFF"/>
          </a:solidFill>
          <a:ln>
            <a:solidFill>
              <a:srgbClr val="E24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9601200" cy="4114800"/>
          </a:xfrm>
          <a:prstGeom prst="rect">
            <a:avLst/>
          </a:prstGeom>
          <a:noFill/>
        </p:spPr>
        <p:txBody>
          <a:bodyPr wrap="square">
            <a:spAutoFit/>
          </a:bodyPr>
          <a:lstStyle/>
          <a:p>
            <a:pPr>
              <a:spcAft>
                <a:spcPts val="600"/>
              </a:spcAft>
              <a:defRPr sz="5400" b="1">
                <a:solidFill>
                  <a:srgbClr val="E24BFF"/>
                </a:solidFill>
              </a:defRPr>
            </a:pPr>
            <a:r>
              <a:t>STAMP</a:t>
            </a:r>
          </a:p>
          <a:p>
            <a:pPr>
              <a:spcAft>
                <a:spcPts val="1400"/>
              </a:spcAft>
              <a:defRPr sz="2800" b="1">
                <a:solidFill>
                  <a:srgbClr val="FFFFFF"/>
                </a:solidFill>
              </a:defRPr>
            </a:pPr>
            <a:r>
              <a:t>Peel. Press. Toast.</a:t>
            </a:r>
          </a:p>
          <a:p>
            <a:pPr>
              <a:spcAft>
                <a:spcPts val="3600"/>
              </a:spcAft>
              <a:defRPr sz="1800">
                <a:solidFill>
                  <a:srgbClr val="DCC3F5"/>
                </a:solidFill>
              </a:defRPr>
            </a:pPr>
            <a:r>
              <a:t>The Single-Serve Breakfast Spread for Hot Toast</a:t>
            </a:r>
          </a:p>
          <a:p>
            <a:pPr>
              <a:defRPr sz="1400">
                <a:solidFill>
                  <a:srgbClr val="C8AFE6"/>
                </a:solidFill>
              </a:defRPr>
            </a:pPr>
            <a:r>
              <a:t>Presenter: Jacob  |  Course: INFO123 Business AI Project  |  Date: October 2026</a:t>
            </a:r>
          </a:p>
        </p:txBody>
      </p:sp>
      <p:pic>
        <p:nvPicPr>
          <p:cNvPr id="5" name="Picture 4" descr="logo.png"/>
          <p:cNvPicPr>
            <a:picLocks noChangeAspect="1"/>
          </p:cNvPicPr>
          <p:nvPr/>
        </p:nvPicPr>
        <p:blipFill>
          <a:blip r:embed="rId2"/>
          <a:stretch>
            <a:fillRect/>
          </a:stretch>
        </p:blipFill>
        <p:spPr>
          <a:xfrm>
            <a:off x="8046720" y="2103120"/>
            <a:ext cx="3017520" cy="16764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lIns="0" tIns="0" rIns="0" bIns="0">
            <a:spAutoFit/>
          </a:bodyPr>
          <a:lstStyle/>
          <a:p>
            <a:pPr>
              <a:spcAft>
                <a:spcPts val="200"/>
              </a:spcAft>
              <a:defRPr sz="1100" b="1">
                <a:solidFill>
                  <a:srgbClr val="E24BFF"/>
                </a:solidFill>
              </a:defRPr>
            </a:pPr>
            <a:r>
              <a:t>INVESTOR PITCH — PART 1 (30 SECONDS)</a:t>
            </a:r>
          </a:p>
          <a:p>
            <a:pPr>
              <a:spcAft>
                <a:spcPts val="200"/>
              </a:spcAft>
              <a:defRPr sz="2600" b="1">
                <a:solidFill>
                  <a:srgbClr val="3B0764"/>
                </a:solidFill>
              </a:defRPr>
            </a:pPr>
            <a:r>
              <a:t>Product Innovation: Peel. Press. Toast.</a:t>
            </a:r>
          </a:p>
          <a:p>
            <a:pPr>
              <a:defRPr sz="1300">
                <a:solidFill>
                  <a:srgbClr val="634380"/>
                </a:solidFill>
              </a:defRPr>
            </a:pPr>
            <a:r>
              <a:t>A single-serve 10 g disc on release film: no knife, no open jar, no morning wash-up.</a:t>
            </a:r>
          </a:p>
        </p:txBody>
      </p:sp>
      <p:sp>
        <p:nvSpPr>
          <p:cNvPr id="3" name="Rounded Rectangle 2"/>
          <p:cNvSpPr/>
          <p:nvPr/>
        </p:nvSpPr>
        <p:spPr>
          <a:xfrm>
            <a:off x="731520" y="1645920"/>
            <a:ext cx="5303520" cy="4663440"/>
          </a:xfrm>
          <a:prstGeom prst="roundRect">
            <a:avLst/>
          </a:prstGeom>
          <a:solidFill>
            <a:srgbClr val="FBF7FF"/>
          </a:solidFill>
          <a:ln>
            <a:solidFill>
              <a:srgbClr val="EB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4754880" cy="4297680"/>
          </a:xfrm>
          <a:prstGeom prst="rect">
            <a:avLst/>
          </a:prstGeom>
          <a:noFill/>
        </p:spPr>
        <p:txBody>
          <a:bodyPr wrap="square">
            <a:spAutoFit/>
          </a:bodyPr>
          <a:lstStyle/>
          <a:p>
            <a:pPr>
              <a:spcAft>
                <a:spcPts val="800"/>
              </a:spcAft>
              <a:defRPr sz="1800" b="1">
                <a:solidFill>
                  <a:srgbClr val="3B0764"/>
                </a:solidFill>
              </a:defRPr>
            </a:pPr>
            <a:r>
              <a:t>The Problem &amp; The Gesture</a:t>
            </a:r>
          </a:p>
          <a:p>
            <a:pPr>
              <a:spcAft>
                <a:spcPts val="600"/>
              </a:spcAft>
              <a:defRPr b="1" sz="1200">
                <a:solidFill>
                  <a:srgbClr val="1A1024"/>
                </a:solidFill>
              </a:defRPr>
            </a:pPr>
            <a:r>
              <a:t>• Jars Require Infrastructure: </a:t>
            </a:r>
            <a:r>
              <a:rPr b="0" sz="1200">
                <a:solidFill>
                  <a:srgbClr val="1A1024"/>
                </a:solidFill>
              </a:rPr>
              <a:t>Toast eaten away from home (office desks, flats, university halls) demands a knife, an open tub, and a sink to wash up.</a:t>
            </a:r>
          </a:p>
          <a:p>
            <a:pPr>
              <a:spcAft>
                <a:spcPts val="600"/>
              </a:spcAft>
              <a:defRPr b="1" sz="1200">
                <a:solidFill>
                  <a:srgbClr val="1A1024"/>
                </a:solidFill>
              </a:defRPr>
            </a:pPr>
            <a:r>
              <a:t>• The Stamp Solution: </a:t>
            </a:r>
            <a:r>
              <a:rPr b="0" sz="1200">
                <a:solidFill>
                  <a:srgbClr val="1A1024"/>
                </a:solidFill>
              </a:rPr>
              <a:t>A thin 10 g disc of real spread on release film nested in a pocketable card sheet. Peel off, press onto hot toast, and residual heat softens it into an even layer in seconds.</a:t>
            </a:r>
          </a:p>
          <a:p>
            <a:pPr>
              <a:spcAft>
                <a:spcPts val="600"/>
              </a:spcAft>
              <a:defRPr b="1" sz="1200">
                <a:solidFill>
                  <a:srgbClr val="1A1024"/>
                </a:solidFill>
              </a:defRPr>
            </a:pPr>
            <a:r>
              <a:t>• 12-Month Pantry Life: </a:t>
            </a:r>
            <a:r>
              <a:rPr b="0" sz="1200">
                <a:solidFill>
                  <a:srgbClr val="1A1024"/>
                </a:solidFill>
              </a:rPr>
              <a:t>Industrial formulation and sealed release film provide 12 months ambient shelf life without refrigeration.</a:t>
            </a:r>
          </a:p>
        </p:txBody>
      </p:sp>
      <p:sp>
        <p:nvSpPr>
          <p:cNvPr id="5" name="Rounded Rectangle 4"/>
          <p:cNvSpPr/>
          <p:nvPr/>
        </p:nvSpPr>
        <p:spPr>
          <a:xfrm>
            <a:off x="6309360" y="1645920"/>
            <a:ext cx="5120640" cy="4663440"/>
          </a:xfrm>
          <a:prstGeom prst="roundRect">
            <a:avLst/>
          </a:prstGeom>
          <a:solidFill>
            <a:srgbClr val="FBF7FF"/>
          </a:solidFill>
          <a:ln>
            <a:solidFill>
              <a:srgbClr val="EB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0" y="1828800"/>
            <a:ext cx="4572000" cy="2011680"/>
          </a:xfrm>
          <a:prstGeom prst="rect">
            <a:avLst/>
          </a:prstGeom>
          <a:noFill/>
        </p:spPr>
        <p:txBody>
          <a:bodyPr wrap="square">
            <a:spAutoFit/>
          </a:bodyPr>
          <a:lstStyle/>
          <a:p>
            <a:pPr>
              <a:spcAft>
                <a:spcPts val="600"/>
              </a:spcAft>
              <a:defRPr sz="1800" b="1">
                <a:solidFill>
                  <a:srgbClr val="3B0764"/>
                </a:solidFill>
              </a:defRPr>
            </a:pPr>
            <a:r>
              <a:t>Four Launch Flavours</a:t>
            </a:r>
          </a:p>
          <a:p>
            <a:pPr>
              <a:spcAft>
                <a:spcPts val="300"/>
              </a:spcAft>
              <a:defRPr sz="1150">
                <a:solidFill>
                  <a:srgbClr val="1A1024"/>
                </a:solidFill>
              </a:defRPr>
            </a:pPr>
            <a:r>
              <a:t>✔ Salted Butter: Cultured dairy spread (2 g salt / 78 g fat).</a:t>
            </a:r>
          </a:p>
          <a:p>
            <a:pPr>
              <a:spcAft>
                <a:spcPts val="300"/>
              </a:spcAft>
              <a:defRPr sz="1150">
                <a:solidFill>
                  <a:srgbClr val="1A1024"/>
                </a:solidFill>
              </a:defRPr>
            </a:pPr>
            <a:r>
              <a:t>✔ Raspberry: Slow-cooked whole fruit paste (150 g fruit / 100 g).</a:t>
            </a:r>
          </a:p>
          <a:p>
            <a:pPr>
              <a:spcAft>
                <a:spcPts val="300"/>
              </a:spcAft>
              <a:defRPr sz="1150">
                <a:solidFill>
                  <a:srgbClr val="1A1024"/>
                </a:solidFill>
              </a:defRPr>
            </a:pPr>
            <a:r>
              <a:t>✔ Yeast Extract: Savory umami paste (80% yeast, 15.5% barley malt).</a:t>
            </a:r>
          </a:p>
          <a:p>
            <a:pPr>
              <a:spcAft>
                <a:spcPts val="300"/>
              </a:spcAft>
              <a:defRPr sz="1150">
                <a:solidFill>
                  <a:srgbClr val="1A1024"/>
                </a:solidFill>
              </a:defRPr>
            </a:pPr>
            <a:r>
              <a:t>✔ Peanut: 96% roasted peanuts + hard fat anti-separation stabilizer.</a:t>
            </a:r>
          </a:p>
        </p:txBody>
      </p:sp>
      <p:pic>
        <p:nvPicPr>
          <p:cNvPr id="7" name="Picture 6" descr="pack.png"/>
          <p:cNvPicPr>
            <a:picLocks noChangeAspect="1"/>
          </p:cNvPicPr>
          <p:nvPr/>
        </p:nvPicPr>
        <p:blipFill>
          <a:blip r:embed="rId2"/>
          <a:stretch>
            <a:fillRect/>
          </a:stretch>
        </p:blipFill>
        <p:spPr>
          <a:xfrm>
            <a:off x="6858000" y="3931920"/>
            <a:ext cx="1577340" cy="21031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lIns="0" tIns="0" rIns="0" bIns="0">
            <a:spAutoFit/>
          </a:bodyPr>
          <a:lstStyle/>
          <a:p>
            <a:pPr>
              <a:spcAft>
                <a:spcPts val="200"/>
              </a:spcAft>
              <a:defRPr sz="1100" b="1">
                <a:solidFill>
                  <a:srgbClr val="E24BFF"/>
                </a:solidFill>
              </a:defRPr>
            </a:pPr>
            <a:r>
              <a:t>INVESTOR PITCH — PART 2 (30 SECONDS)</a:t>
            </a:r>
          </a:p>
          <a:p>
            <a:pPr>
              <a:spcAft>
                <a:spcPts val="200"/>
              </a:spcAft>
              <a:defRPr sz="2600" b="1">
                <a:solidFill>
                  <a:srgbClr val="3B0764"/>
                </a:solidFill>
              </a:defRPr>
            </a:pPr>
            <a:r>
              <a:t>Market Opportunity &amp; Competitive Advantage</a:t>
            </a:r>
          </a:p>
          <a:p>
            <a:pPr>
              <a:defRPr sz="1300">
                <a:solidFill>
                  <a:srgbClr val="634380"/>
                </a:solidFill>
              </a:defRPr>
            </a:pPr>
            <a:r>
              <a:t>$341M category with 24% growth, premium tier expansion, and zero portion-format rivals.</a:t>
            </a:r>
          </a:p>
        </p:txBody>
      </p:sp>
      <p:sp>
        <p:nvSpPr>
          <p:cNvPr id="3" name="Rounded Rectangle 2"/>
          <p:cNvSpPr/>
          <p:nvPr/>
        </p:nvSpPr>
        <p:spPr>
          <a:xfrm>
            <a:off x="731520" y="1645920"/>
            <a:ext cx="5303520" cy="4663440"/>
          </a:xfrm>
          <a:prstGeom prst="roundRect">
            <a:avLst/>
          </a:prstGeom>
          <a:solidFill>
            <a:srgbClr val="FBF7FF"/>
          </a:solidFill>
          <a:ln>
            <a:solidFill>
              <a:srgbClr val="EB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4754880" cy="4297680"/>
          </a:xfrm>
          <a:prstGeom prst="rect">
            <a:avLst/>
          </a:prstGeom>
          <a:noFill/>
        </p:spPr>
        <p:txBody>
          <a:bodyPr wrap="square">
            <a:spAutoFit/>
          </a:bodyPr>
          <a:lstStyle/>
          <a:p>
            <a:pPr>
              <a:spcAft>
                <a:spcPts val="800"/>
              </a:spcAft>
              <a:defRPr sz="1800" b="1">
                <a:solidFill>
                  <a:srgbClr val="3B0764"/>
                </a:solidFill>
              </a:defRPr>
            </a:pPr>
            <a:r>
              <a:t>Verified NZ Breakfast Data</a:t>
            </a:r>
          </a:p>
          <a:p>
            <a:pPr>
              <a:spcAft>
                <a:spcPts val="500"/>
              </a:spcAft>
              <a:defRPr b="1" sz="1150">
                <a:solidFill>
                  <a:srgbClr val="1A1024"/>
                </a:solidFill>
              </a:defRPr>
            </a:pPr>
            <a:r>
              <a:t>• Category Expansion: </a:t>
            </a:r>
            <a:r>
              <a:rPr b="0" sz="1150">
                <a:solidFill>
                  <a:srgbClr val="1A1024"/>
                </a:solidFill>
              </a:rPr>
              <a:t>New Zealand spreads revenue grew 24% from $275M (2022) to $341M NZD (2025). Premium spreads grew fastest (+29%, reaching $113M).</a:t>
            </a:r>
          </a:p>
          <a:p>
            <a:pPr>
              <a:spcAft>
                <a:spcPts val="500"/>
              </a:spcAft>
              <a:defRPr b="1" sz="1150">
                <a:solidFill>
                  <a:srgbClr val="1A1024"/>
                </a:solidFill>
              </a:defRPr>
            </a:pPr>
            <a:r>
              <a:t>• The Format Vacuum: </a:t>
            </a:r>
            <a:r>
              <a:rPr b="0" sz="1150">
                <a:solidFill>
                  <a:srgbClr val="1A1024"/>
                </a:solidFill>
              </a:rPr>
              <a:t>Across 154 spread names in the market, not a single brand offers a single-serve, peel-and-press format.</a:t>
            </a:r>
          </a:p>
          <a:p>
            <a:pPr>
              <a:spcAft>
                <a:spcPts val="500"/>
              </a:spcAft>
              <a:defRPr b="1" sz="1150">
                <a:solidFill>
                  <a:srgbClr val="1A1024"/>
                </a:solidFill>
              </a:defRPr>
            </a:pPr>
            <a:r>
              <a:t>• Unit Economics: </a:t>
            </a:r>
            <a:r>
              <a:rPr b="0" sz="1150">
                <a:solidFill>
                  <a:srgbClr val="1A1024"/>
                </a:solidFill>
              </a:rPr>
              <a:t>Priced at $5.00 NZD per 80 g sheet ($6.25/100g). Above jar medians ($2.15/100g) because buyers pay for portion control and pocket convenience.</a:t>
            </a:r>
          </a:p>
          <a:p>
            <a:pPr>
              <a:spcAft>
                <a:spcPts val="500"/>
              </a:spcAft>
              <a:defRPr b="1" sz="1150">
                <a:solidFill>
                  <a:srgbClr val="1A1024"/>
                </a:solidFill>
              </a:defRPr>
            </a:pPr>
            <a:r>
              <a:t>• Attractive Margins: </a:t>
            </a:r>
            <a:r>
              <a:rPr b="0" sz="1150">
                <a:solidFill>
                  <a:srgbClr val="1A1024"/>
                </a:solidFill>
              </a:rPr>
              <a:t>At assumed $1.50 contract manufacturing cost and 35% retail margin, Stamp retains $1.75 contribution per sheet.</a:t>
            </a:r>
          </a:p>
        </p:txBody>
      </p:sp>
      <p:pic>
        <p:nvPicPr>
          <p:cNvPr id="5" name="Picture 4" descr="02-spreads-revenue-by-tier-2022-vs-2025.png"/>
          <p:cNvPicPr>
            <a:picLocks noChangeAspect="1"/>
          </p:cNvPicPr>
          <p:nvPr/>
        </p:nvPicPr>
        <p:blipFill>
          <a:blip r:embed="rId2"/>
          <a:stretch>
            <a:fillRect/>
          </a:stretch>
        </p:blipFill>
        <p:spPr>
          <a:xfrm>
            <a:off x="6309360" y="1645920"/>
            <a:ext cx="5120640" cy="324723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lIns="0" tIns="0" rIns="0" bIns="0">
            <a:spAutoFit/>
          </a:bodyPr>
          <a:lstStyle/>
          <a:p>
            <a:pPr>
              <a:spcAft>
                <a:spcPts val="200"/>
              </a:spcAft>
              <a:defRPr sz="1100" b="1">
                <a:solidFill>
                  <a:srgbClr val="E24BFF"/>
                </a:solidFill>
              </a:defRPr>
            </a:pPr>
            <a:r>
              <a:t>PERSONAL REFLECTION — PART 2 (STUDENT'S OWN WORDS)</a:t>
            </a:r>
          </a:p>
          <a:p>
            <a:pPr>
              <a:spcAft>
                <a:spcPts val="200"/>
              </a:spcAft>
              <a:defRPr sz="2600" b="1">
                <a:solidFill>
                  <a:srgbClr val="3B0764"/>
                </a:solidFill>
              </a:defRPr>
            </a:pPr>
            <a:r>
              <a:t>Reflection Q1: Lessons in Working with Generative AI</a:t>
            </a:r>
          </a:p>
          <a:p>
            <a:pPr>
              <a:defRPr sz="1300">
                <a:solidFill>
                  <a:srgbClr val="634380"/>
                </a:solidFill>
              </a:defRPr>
            </a:pPr>
            <a:r>
              <a:t>Prompting techniques, context engineering, session management, and verification.</a:t>
            </a:r>
          </a:p>
        </p:txBody>
      </p:sp>
      <p:sp>
        <p:nvSpPr>
          <p:cNvPr id="3" name="Rectangle 2"/>
          <p:cNvSpPr/>
          <p:nvPr/>
        </p:nvSpPr>
        <p:spPr>
          <a:xfrm>
            <a:off x="731520" y="1645920"/>
            <a:ext cx="10698480" cy="502920"/>
          </a:xfrm>
          <a:prstGeom prst="rect">
            <a:avLst/>
          </a:prstGeom>
          <a:solidFill>
            <a:srgbClr val="FEF2F2"/>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B91C1C"/>
                </a:solidFill>
              </a:defRPr>
            </a:pPr>
            <a:r>
              <a:t>CRITICAL BRIEF REQUIREMENT: Deliver in your personal voice. AI assistance was strictly prohibited for reflection text.</a:t>
            </a:r>
          </a:p>
        </p:txBody>
      </p:sp>
      <p:sp>
        <p:nvSpPr>
          <p:cNvPr id="4" name="Rounded Rectangle 3"/>
          <p:cNvSpPr/>
          <p:nvPr/>
        </p:nvSpPr>
        <p:spPr>
          <a:xfrm>
            <a:off x="731520" y="2286000"/>
            <a:ext cx="3383280" cy="4023360"/>
          </a:xfrm>
          <a:prstGeom prst="roundRect">
            <a:avLst/>
          </a:prstGeom>
          <a:solidFill>
            <a:srgbClr val="FBF7FF"/>
          </a:solidFill>
          <a:ln>
            <a:solidFill>
              <a:srgbClr val="EB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3B0764"/>
                </a:solidFill>
              </a:defRPr>
            </a:pPr>
            <a:r>
              <a:t>Context &amp; Steering</a:t>
            </a:r>
          </a:p>
          <a:p>
            <a:pPr>
              <a:spcAft>
                <a:spcPts val="600"/>
              </a:spcAft>
              <a:defRPr sz="1050">
                <a:solidFill>
                  <a:srgbClr val="1A1024"/>
                </a:solidFill>
              </a:defRPr>
            </a:pPr>
            <a:r>
              <a:t>• Prompting Beyond Defaults: How role personas, explicit negative constraints, and output formats prevented generic responses.</a:t>
            </a:r>
          </a:p>
          <a:p>
            <a:pPr>
              <a:spcAft>
                <a:spcPts val="600"/>
              </a:spcAft>
              <a:defRPr sz="1050">
                <a:solidFill>
                  <a:srgbClr val="1A1024"/>
                </a:solidFill>
              </a:defRPr>
            </a:pPr>
            <a:r>
              <a:t>• Session Partitioning: Why separating data cleaning, visual identity, and copy prevented context drift across 13 stages.</a:t>
            </a:r>
          </a:p>
          <a:p>
            <a:pPr>
              <a:spcAft>
                <a:spcPts val="600"/>
              </a:spcAft>
              <a:defRPr sz="1050">
                <a:solidFill>
                  <a:srgbClr val="1A1024"/>
                </a:solidFill>
              </a:defRPr>
            </a:pPr>
            <a:r>
              <a:t>• Prompting Artifact: Carrying locked spec decisions forward rather than re-prompting.</a:t>
            </a:r>
          </a:p>
        </p:txBody>
      </p:sp>
      <p:sp>
        <p:nvSpPr>
          <p:cNvPr id="5" name="Rounded Rectangle 4"/>
          <p:cNvSpPr/>
          <p:nvPr/>
        </p:nvSpPr>
        <p:spPr>
          <a:xfrm>
            <a:off x="4389120" y="2286000"/>
            <a:ext cx="3383280" cy="4023360"/>
          </a:xfrm>
          <a:prstGeom prst="roundRect">
            <a:avLst/>
          </a:prstGeom>
          <a:solidFill>
            <a:srgbClr val="FBF7FF"/>
          </a:solidFill>
          <a:ln>
            <a:solidFill>
              <a:srgbClr val="EB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3B0764"/>
                </a:solidFill>
              </a:defRPr>
            </a:pPr>
            <a:r>
              <a:t>Verification &amp; Pivotal Moment</a:t>
            </a:r>
          </a:p>
          <a:p>
            <a:pPr>
              <a:spcAft>
                <a:spcPts val="600"/>
              </a:spcAft>
              <a:defRPr sz="1050">
                <a:solidFill>
                  <a:srgbClr val="1A1024"/>
                </a:solidFill>
              </a:defRPr>
            </a:pPr>
            <a:r>
              <a:t>• Catching Raw Data Errors: Detecting aberrant price outliers (&gt;$40) and missing revenues in raw dataset rather than trusting uncleaned sums.</a:t>
            </a:r>
          </a:p>
          <a:p>
            <a:pPr>
              <a:spcAft>
                <a:spcPts val="600"/>
              </a:spcAft>
              <a:defRPr sz="1050">
                <a:solidFill>
                  <a:srgbClr val="1A1024"/>
                </a:solidFill>
              </a:defRPr>
            </a:pPr>
            <a:r>
              <a:t>• The Specific Turning Point: A concrete moment when AI output hallucinated or failed, and the exact steps taken to correct it.</a:t>
            </a:r>
          </a:p>
          <a:p>
            <a:pPr>
              <a:spcAft>
                <a:spcPts val="600"/>
              </a:spcAft>
              <a:defRPr sz="1050">
                <a:solidFill>
                  <a:srgbClr val="1A1024"/>
                </a:solidFill>
              </a:defRPr>
            </a:pPr>
            <a:r>
              <a:t>• Independent Sourcing: Verifying real competitor shelf prices directly on New World instead of relying on AI guesses.</a:t>
            </a:r>
          </a:p>
        </p:txBody>
      </p:sp>
      <p:sp>
        <p:nvSpPr>
          <p:cNvPr id="6" name="Rounded Rectangle 5"/>
          <p:cNvSpPr/>
          <p:nvPr/>
        </p:nvSpPr>
        <p:spPr>
          <a:xfrm>
            <a:off x="8046720" y="2286000"/>
            <a:ext cx="3383280" cy="4023360"/>
          </a:xfrm>
          <a:prstGeom prst="roundRect">
            <a:avLst/>
          </a:prstGeom>
          <a:solidFill>
            <a:srgbClr val="FBF7FF"/>
          </a:solidFill>
          <a:ln>
            <a:solidFill>
              <a:srgbClr val="EB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3B0764"/>
                </a:solidFill>
              </a:defRPr>
            </a:pPr>
            <a:r>
              <a:t>Key Lessons Learned</a:t>
            </a:r>
          </a:p>
          <a:p>
            <a:pPr>
              <a:spcAft>
                <a:spcPts val="600"/>
              </a:spcAft>
              <a:defRPr sz="1050">
                <a:solidFill>
                  <a:srgbClr val="1A1024"/>
                </a:solidFill>
              </a:defRPr>
            </a:pPr>
            <a:r>
              <a:t>• AI as Junior Drafter, Not Director: Treating model outputs as hypotheses that require rigorous empirical validation.</a:t>
            </a:r>
          </a:p>
          <a:p>
            <a:pPr>
              <a:spcAft>
                <a:spcPts val="600"/>
              </a:spcAft>
              <a:defRPr sz="1050">
                <a:solidFill>
                  <a:srgbClr val="1A1024"/>
                </a:solidFill>
              </a:defRPr>
            </a:pPr>
            <a:r>
              <a:t>• Hybrid AI Architecture: Integrating OpenRouter API with a locked system prompt and instant deterministic fallback to eliminate hallucinations.</a:t>
            </a:r>
          </a:p>
          <a:p>
            <a:pPr>
              <a:spcAft>
                <a:spcPts val="600"/>
              </a:spcAft>
              <a:defRPr sz="1050">
                <a:solidFill>
                  <a:srgbClr val="1A1024"/>
                </a:solidFill>
              </a:defRPr>
            </a:pPr>
            <a:r>
              <a:t>• What I Would Do Differently: Specific adjustments for future enterprise AI workflows.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188720"/>
          </a:xfrm>
          <a:prstGeom prst="rect">
            <a:avLst/>
          </a:prstGeom>
          <a:noFill/>
        </p:spPr>
        <p:txBody>
          <a:bodyPr wrap="square" lIns="0" tIns="0" rIns="0" bIns="0">
            <a:spAutoFit/>
          </a:bodyPr>
          <a:lstStyle/>
          <a:p>
            <a:pPr>
              <a:spcAft>
                <a:spcPts val="200"/>
              </a:spcAft>
              <a:defRPr sz="1100" b="1">
                <a:solidFill>
                  <a:srgbClr val="E24BFF"/>
                </a:solidFill>
              </a:defRPr>
            </a:pPr>
            <a:r>
              <a:t>PERSONAL REFLECTION — PART 2 (STUDENT'S OWN WORDS)</a:t>
            </a:r>
          </a:p>
          <a:p>
            <a:pPr>
              <a:spcAft>
                <a:spcPts val="200"/>
              </a:spcAft>
              <a:defRPr sz="2600" b="1">
                <a:solidFill>
                  <a:srgbClr val="3B0764"/>
                </a:solidFill>
              </a:defRPr>
            </a:pPr>
            <a:r>
              <a:t>Reflection Q2: Critical Evaluation of AI, Authenticity &amp; Ethics</a:t>
            </a:r>
          </a:p>
          <a:p>
            <a:pPr>
              <a:defRPr sz="1300">
                <a:solidFill>
                  <a:srgbClr val="634380"/>
                </a:solidFill>
              </a:defRPr>
            </a:pPr>
            <a:r>
              <a:t>Combating 'AI slop', regulatory liability, and ethics for future knowledge workers.</a:t>
            </a:r>
          </a:p>
        </p:txBody>
      </p:sp>
      <p:sp>
        <p:nvSpPr>
          <p:cNvPr id="3" name="Rectangle 2"/>
          <p:cNvSpPr/>
          <p:nvPr/>
        </p:nvSpPr>
        <p:spPr>
          <a:xfrm>
            <a:off x="731520" y="1645920"/>
            <a:ext cx="10698480" cy="502920"/>
          </a:xfrm>
          <a:prstGeom prst="rect">
            <a:avLst/>
          </a:prstGeom>
          <a:solidFill>
            <a:srgbClr val="FEF2F2"/>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B91C1C"/>
                </a:solidFill>
              </a:defRPr>
            </a:pPr>
            <a:r>
              <a:t>CRITICAL BRIEF REQUIREMENT: Deliver in your personal voice. AI assistance was strictly prohibited for reflection text.</a:t>
            </a:r>
          </a:p>
        </p:txBody>
      </p:sp>
      <p:sp>
        <p:nvSpPr>
          <p:cNvPr id="4" name="Rounded Rectangle 3"/>
          <p:cNvSpPr/>
          <p:nvPr/>
        </p:nvSpPr>
        <p:spPr>
          <a:xfrm>
            <a:off x="731520" y="2286000"/>
            <a:ext cx="3383280" cy="4023360"/>
          </a:xfrm>
          <a:prstGeom prst="roundRect">
            <a:avLst/>
          </a:prstGeom>
          <a:solidFill>
            <a:srgbClr val="FBF7FF"/>
          </a:solidFill>
          <a:ln>
            <a:solidFill>
              <a:srgbClr val="EB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3B0764"/>
                </a:solidFill>
              </a:defRPr>
            </a:pPr>
            <a:r>
              <a:t>Combating 'AI Slop'</a:t>
            </a:r>
          </a:p>
          <a:p>
            <a:pPr>
              <a:spcAft>
                <a:spcPts val="600"/>
              </a:spcAft>
              <a:defRPr sz="1050">
                <a:solidFill>
                  <a:srgbClr val="1A1024"/>
                </a:solidFill>
              </a:defRPr>
            </a:pPr>
            <a:r>
              <a:t>• Rejecting Generic Fluff: AI defaults to superlative marketing cliches ('revolutionizing breakfast'). Enforcing concise, plain-spoken prose made Stamp authentic.</a:t>
            </a:r>
          </a:p>
          <a:p>
            <a:pPr>
              <a:spcAft>
                <a:spcPts val="600"/>
              </a:spcAft>
              <a:defRPr sz="1050">
                <a:solidFill>
                  <a:srgbClr val="1A1024"/>
                </a:solidFill>
              </a:defRPr>
            </a:pPr>
            <a:r>
              <a:t>• Authentic Physical Design: Anchoring packaging in real industrial constraints (foil release liners, ambient butterfat stability) rather than impossible fantasy designs.</a:t>
            </a:r>
          </a:p>
          <a:p>
            <a:pPr>
              <a:spcAft>
                <a:spcPts val="600"/>
              </a:spcAft>
              <a:defRPr sz="1050">
                <a:solidFill>
                  <a:srgbClr val="1A1024"/>
                </a:solidFill>
              </a:defRPr>
            </a:pPr>
            <a:r>
              <a:t>• Human Taste &amp; Tone: Deliberately choosing an off-beat, energetic sound and visual palette.</a:t>
            </a:r>
          </a:p>
        </p:txBody>
      </p:sp>
      <p:sp>
        <p:nvSpPr>
          <p:cNvPr id="5" name="Rounded Rectangle 4"/>
          <p:cNvSpPr/>
          <p:nvPr/>
        </p:nvSpPr>
        <p:spPr>
          <a:xfrm>
            <a:off x="4389120" y="2286000"/>
            <a:ext cx="3383280" cy="4023360"/>
          </a:xfrm>
          <a:prstGeom prst="roundRect">
            <a:avLst/>
          </a:prstGeom>
          <a:solidFill>
            <a:srgbClr val="FBF7FF"/>
          </a:solidFill>
          <a:ln>
            <a:solidFill>
              <a:srgbClr val="EB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3B0764"/>
                </a:solidFill>
              </a:defRPr>
            </a:pPr>
            <a:r>
              <a:t>Regulatory &amp; Legal Risks</a:t>
            </a:r>
          </a:p>
          <a:p>
            <a:pPr>
              <a:spcAft>
                <a:spcPts val="600"/>
              </a:spcAft>
              <a:defRPr sz="1050">
                <a:solidFill>
                  <a:srgbClr val="1A1024"/>
                </a:solidFill>
              </a:defRPr>
            </a:pPr>
            <a:r>
              <a:t>• The Hallucination Danger: Left unconstrained, AI frequently invents fake organic labels, false 'gluten-free' badges, or illegal medical claims.</a:t>
            </a:r>
          </a:p>
          <a:p>
            <a:pPr>
              <a:spcAft>
                <a:spcPts val="600"/>
              </a:spcAft>
              <a:defRPr sz="1050">
                <a:solidFill>
                  <a:srgbClr val="1A1024"/>
                </a:solidFill>
              </a:defRPr>
            </a:pPr>
            <a:r>
              <a:t>• Strict Enforced Bans: Banning health and therapeutic claims; legally distinguishing 'spread' from refrigerated table butter under FSANZ standards.</a:t>
            </a:r>
          </a:p>
          <a:p>
            <a:pPr>
              <a:spcAft>
                <a:spcPts val="600"/>
              </a:spcAft>
              <a:defRPr sz="1050">
                <a:solidFill>
                  <a:srgbClr val="1A1024"/>
                </a:solidFill>
              </a:defRPr>
            </a:pPr>
            <a:r>
              <a:t>• Allergen Responsibility: Ensuring life-threatening peanut and gluten disclosures were never obscured by AI optimism.</a:t>
            </a:r>
          </a:p>
        </p:txBody>
      </p:sp>
      <p:sp>
        <p:nvSpPr>
          <p:cNvPr id="6" name="Rounded Rectangle 5"/>
          <p:cNvSpPr/>
          <p:nvPr/>
        </p:nvSpPr>
        <p:spPr>
          <a:xfrm>
            <a:off x="8046720" y="2286000"/>
            <a:ext cx="3383280" cy="4023360"/>
          </a:xfrm>
          <a:prstGeom prst="roundRect">
            <a:avLst/>
          </a:prstGeom>
          <a:solidFill>
            <a:srgbClr val="FBF7FF"/>
          </a:solidFill>
          <a:ln>
            <a:solidFill>
              <a:srgbClr val="EBD4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3B0764"/>
                </a:solidFill>
              </a:defRPr>
            </a:pPr>
            <a:r>
              <a:t>Ethics &amp; Future Work</a:t>
            </a:r>
          </a:p>
          <a:p>
            <a:pPr>
              <a:spcAft>
                <a:spcPts val="600"/>
              </a:spcAft>
              <a:defRPr sz="1050">
                <a:solidFill>
                  <a:srgbClr val="1A1024"/>
                </a:solidFill>
              </a:defRPr>
            </a:pPr>
            <a:r>
              <a:t>• Accountability Remains Human: When a business deploys AI, legal, moral, and customer accountability cannot be offloaded to an algorithm.</a:t>
            </a:r>
          </a:p>
          <a:p>
            <a:pPr>
              <a:spcAft>
                <a:spcPts val="600"/>
              </a:spcAft>
              <a:defRPr sz="1050">
                <a:solidFill>
                  <a:srgbClr val="1A1024"/>
                </a:solidFill>
              </a:defRPr>
            </a:pPr>
            <a:r>
              <a:t>• Value of Critical Thinking: The essential role of the knowledge worker is skepticism, verification, and boundary-setting.</a:t>
            </a:r>
          </a:p>
          <a:p>
            <a:pPr>
              <a:spcAft>
                <a:spcPts val="600"/>
              </a:spcAft>
              <a:defRPr sz="1050">
                <a:solidFill>
                  <a:srgbClr val="1A1024"/>
                </a:solidFill>
              </a:defRPr>
            </a:pPr>
            <a:r>
              <a:t>• Personal Perspective: What it means to work ethically alongside AI without surrendering personal agency or judgment.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