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(0:00–0:08)</a:t>
            </a:r>
          </a:p>
          <a:p>
            <a:r>
              <a:t>Kia ora. I'm Jacob, and this is Stamp: a New Zealand breakfast spread innovation engineered for hot toast.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PITCH SLIDE 1 (0:08–0:34)</a:t>
            </a:r>
          </a:p>
          <a:p>
            <a:r>
              <a:t>Eating toast away from a full kitchen is broken. When you're in a student hall, flat, or office desk, nobody wants to lug a sticky 750-gram jar, track down a table knife, and wash it in an office sink.</a:t>
            </a:r>
          </a:p>
          <a:p/>
          <a:p>
            <a:r>
              <a:t>Stamp reinvents the format with a thin, 10-gram disc of real spread on release film. You peel it off, press it onto hot toast, and residual heat softens it into an even spread in seconds. No knife, no open jar, no morning mess.</a:t>
            </a:r>
          </a:p>
          <a:p/>
          <a:p>
            <a:r>
              <a:t>We launch with four distinct flavours: Salted Butter, Raspberry, Yeast extract, and Peanut—pantry-stable for 12 months in an 8-stamp card sheet.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PITCH SLIDE 2 (0:34–0:58)</a:t>
            </a:r>
          </a:p>
          <a:p>
            <a:r>
              <a:t>Our analysis of New Zealand breakfast retail sales shows spreads revenue grew 24% to 341 million dollars, with the premium tier surging 29% to 113 million. Yet across 154 existing spread products, not one offers a single-serve portion format.</a:t>
            </a:r>
          </a:p>
          <a:p/>
          <a:p>
            <a:r>
              <a:t>Supermarket jars like Pic's or Fix &amp; Fogg compete on bulk weight, but they are messy and stationary. At five dollars a sheet—just 63 cents a toast portion—Stamp captures premium convenience. With an assumed manufacturing cost of one-fifty, we retain a strong one-dollar-seventy-five gross margin per sheet. Stamp is ready to own portable breakfast.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REFLECTION Q1 (1:00–1:55)</a:t>
            </a:r>
          </a:p>
          <a:p>
            <a:r>
              <a:t>[Jacob's personal reflection: speak directly to camera about your AI steering experience.]</a:t>
            </a:r>
          </a:p>
          <a:p>
            <a:r>
              <a:t>Key speaking cues:</a:t>
            </a:r>
          </a:p>
          <a:p>
            <a:r>
              <a:t>1. Mention how you structured distinct sessions rather than one massive unmanageable chat.</a:t>
            </a:r>
          </a:p>
          <a:p>
            <a:r>
              <a:t>2. Explain how you used explicit negative constraints (e.g. banning health claims and certification badges) and role personas to get reliable results.</a:t>
            </a:r>
          </a:p>
          <a:p>
            <a:r>
              <a:t>3. Share a concrete example where an AI model gave an unrealistic answer (e.g., assuming chilled butter could sit ambiently without dairy-spread reformulations) and how you caught and corrected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REFLECTION Q2 (1:55–2:45)</a:t>
            </a:r>
          </a:p>
          <a:p>
            <a:r>
              <a:t>[Jacob's personal reflection: speak directly to camera on authenticity and ethics.]</a:t>
            </a:r>
          </a:p>
          <a:p>
            <a:r>
              <a:t>Key speaking cues:</a:t>
            </a:r>
          </a:p>
          <a:p>
            <a:r>
              <a:t>1. Explain how you actively stripped out generic corporate jargon in favour of plain, punchy facts.</a:t>
            </a:r>
          </a:p>
          <a:p>
            <a:r>
              <a:t>2. Emphasize the legal hazards of AI in food and beverage: hallucinated health benefits, false gluten-free claims, and allergen responsibility.</a:t>
            </a:r>
          </a:p>
          <a:p>
            <a:r>
              <a:t>3. Conclude with your takeaway: Generative AI accelerates drafting, but human judgment, taste, and ultimate accountability can never be outsourced to a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0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6858000" cy="3474720"/>
          </a:xfrm>
          <a:prstGeom prst="rect">
            <a:avLst/>
          </a:prstGeom>
          <a:noFill/>
        </p:spPr>
        <p:txBody>
          <a:bodyPr wrap="square" lIns="0" tIns="0" rIns="0" bIns="0">
            <a:spAutoFit/>
          </a:bodyPr>
          <a:lstStyle/>
          <a:p>
            <a:pPr>
              <a:spcAft>
                <a:spcPts val="400"/>
              </a:spcAft>
              <a:defRPr sz="6800" b="1">
                <a:solidFill>
                  <a:srgbClr val="E24BFF"/>
                </a:solidFill>
                <a:latin typeface="Manrope"/>
              </a:defRPr>
            </a:pPr>
            <a:r>
              <a:t>STAMP</a:t>
            </a:r>
          </a:p>
          <a:p>
            <a:pPr>
              <a:spcAft>
                <a:spcPts val="1600"/>
              </a:spcAft>
              <a:defRPr sz="2800" b="1">
                <a:solidFill>
                  <a:srgbClr val="FFFFFF"/>
                </a:solidFill>
                <a:latin typeface="Manrope"/>
              </a:defRPr>
            </a:pPr>
            <a:r>
              <a:t>PEEL. PRESS. TOAST.</a:t>
            </a:r>
          </a:p>
          <a:p>
            <a:pPr>
              <a:spcAft>
                <a:spcPts val="2800"/>
              </a:spcAft>
              <a:defRPr sz="1800">
                <a:solidFill>
                  <a:srgbClr val="E24BFF"/>
                </a:solidFill>
                <a:latin typeface="Manrope"/>
              </a:defRPr>
            </a:pPr>
            <a:r>
              <a:t>The Utensil-Free Breakfast Spread for Hot Toast</a:t>
            </a:r>
          </a:p>
          <a:p>
            <a:pPr>
              <a:defRPr sz="1200" b="1">
                <a:solidFill>
                  <a:srgbClr val="FFFFFF"/>
                </a:solidFill>
                <a:latin typeface="Manrope"/>
              </a:defRPr>
            </a:pPr>
            <a:r>
              <a:t>Commercial Business Pitch  •  Jacob  •  INFO123 Business AI Project</a:t>
            </a:r>
          </a:p>
        </p:txBody>
      </p:sp>
      <p:pic>
        <p:nvPicPr>
          <p:cNvPr id="4" name="Picture 3" descr="butter.png"/>
          <p:cNvPicPr>
            <a:picLocks noChangeAspect="1"/>
          </p:cNvPicPr>
          <p:nvPr/>
        </p:nvPicPr>
        <p:blipFill>
          <a:blip r:embed="rId2"/>
          <a:stretch>
            <a:fillRect/>
          </a:stretch>
        </p:blipFill>
        <p:spPr>
          <a:xfrm>
            <a:off x="7863840" y="1463040"/>
            <a:ext cx="3474720" cy="4632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A3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9144000" cy="365760"/>
          </a:xfrm>
          <a:prstGeom prst="rect">
            <a:avLst/>
          </a:prstGeom>
          <a:noFill/>
        </p:spPr>
        <p:txBody>
          <a:bodyPr wrap="none" lIns="0" tIns="0" rIns="0" bIns="0">
            <a:spAutoFit/>
          </a:bodyPr>
          <a:lstStyle/>
          <a:p>
            <a:pPr>
              <a:defRPr sz="1200" b="1">
                <a:solidFill>
                  <a:srgbClr val="FFD640"/>
                </a:solidFill>
                <a:latin typeface="Manrope"/>
              </a:defRPr>
            </a:pPr>
            <a:r>
              <a:t>01 / PRODUCT INNOVATION  •  PITCH PART 1 (30 SECONDS)</a:t>
            </a:r>
          </a:p>
        </p:txBody>
      </p:sp>
      <p:sp>
        <p:nvSpPr>
          <p:cNvPr id="4" name="TextBox 3"/>
          <p:cNvSpPr txBox="1"/>
          <p:nvPr/>
        </p:nvSpPr>
        <p:spPr>
          <a:xfrm>
            <a:off x="822960" y="841248"/>
            <a:ext cx="10698480" cy="1005840"/>
          </a:xfrm>
          <a:prstGeom prst="rect">
            <a:avLst/>
          </a:prstGeom>
          <a:noFill/>
        </p:spPr>
        <p:txBody>
          <a:bodyPr wrap="square" lIns="0" tIns="0" rIns="0" bIns="0">
            <a:spAutoFit/>
          </a:bodyPr>
          <a:lstStyle/>
          <a:p>
            <a:pPr>
              <a:spcAft>
                <a:spcPts val="200"/>
              </a:spcAft>
              <a:defRPr sz="3200" b="1">
                <a:solidFill>
                  <a:srgbClr val="FFFFFF"/>
                </a:solidFill>
                <a:latin typeface="Manrope"/>
              </a:defRPr>
            </a:pPr>
            <a:r>
              <a:t>Peel. Press. Toast.</a:t>
            </a:r>
          </a:p>
          <a:p>
            <a:pPr>
              <a:defRPr sz="1400" b="0">
                <a:solidFill>
                  <a:srgbClr val="FFD640"/>
                </a:solidFill>
                <a:latin typeface="Manrope"/>
              </a:defRPr>
            </a:pPr>
            <a:r>
              <a:t>Eliminating out-of-kitchen breakfast friction with a 10 g meltable spread disc.</a:t>
            </a:r>
          </a:p>
        </p:txBody>
      </p:sp>
      <p:sp>
        <p:nvSpPr>
          <p:cNvPr id="5" name="Rounded Rectangle 4"/>
          <p:cNvSpPr/>
          <p:nvPr/>
        </p:nvSpPr>
        <p:spPr>
          <a:xfrm>
            <a:off x="822960" y="2011680"/>
            <a:ext cx="5120640" cy="4114800"/>
          </a:xfrm>
          <a:prstGeom prst="roundRect">
            <a:avLst/>
          </a:prstGeom>
          <a:solidFill>
            <a:srgbClr val="2D1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377440"/>
            <a:ext cx="4389120" cy="3383280"/>
          </a:xfrm>
          <a:prstGeom prst="rect">
            <a:avLst/>
          </a:prstGeom>
          <a:noFill/>
        </p:spPr>
        <p:txBody>
          <a:bodyPr wrap="square" lIns="0" tIns="0" rIns="0" bIns="0">
            <a:spAutoFit/>
          </a:bodyPr>
          <a:lstStyle/>
          <a:p>
            <a:pPr>
              <a:spcAft>
                <a:spcPts val="2000"/>
              </a:spcAft>
              <a:defRPr sz="2000" b="1">
                <a:solidFill>
                  <a:srgbClr val="FFD640"/>
                </a:solidFill>
                <a:latin typeface="Manrope"/>
              </a:defRPr>
            </a:pPr>
            <a:r>
              <a:t>THE PROBLEM</a:t>
            </a:r>
          </a:p>
          <a:p>
            <a:pPr>
              <a:spcAft>
                <a:spcPts val="200"/>
              </a:spcAft>
              <a:defRPr sz="1500" b="1">
                <a:solidFill>
                  <a:srgbClr val="FFFFFF"/>
                </a:solidFill>
                <a:latin typeface="Manrope"/>
              </a:defRPr>
            </a:pPr>
            <a:r>
              <a:t>Jars Require Infrastructure</a:t>
            </a:r>
          </a:p>
          <a:p>
            <a:pPr>
              <a:spcAft>
                <a:spcPts val="1400"/>
              </a:spcAft>
              <a:defRPr sz="1200" b="0">
                <a:solidFill>
                  <a:srgbClr val="FFFFFF"/>
                </a:solidFill>
                <a:latin typeface="Manrope"/>
              </a:defRPr>
            </a:pPr>
            <a:r>
              <a:t>Demands table knives, kitchen counters, and sink washing.</a:t>
            </a:r>
          </a:p>
          <a:p>
            <a:pPr>
              <a:defRPr>
                <a:latin typeface="Manrope"/>
              </a:defRPr>
            </a:pPr>
          </a:p>
          <a:p>
            <a:pPr>
              <a:spcAft>
                <a:spcPts val="200"/>
              </a:spcAft>
              <a:defRPr sz="1500" b="1">
                <a:solidFill>
                  <a:srgbClr val="FFFFFF"/>
                </a:solidFill>
                <a:latin typeface="Manrope"/>
              </a:defRPr>
            </a:pPr>
            <a:r>
              <a:t>Fails Mobile Consumers</a:t>
            </a:r>
          </a:p>
          <a:p>
            <a:pPr>
              <a:spcAft>
                <a:spcPts val="1400"/>
              </a:spcAft>
              <a:defRPr sz="1200" b="0">
                <a:solidFill>
                  <a:srgbClr val="FFFFFF"/>
                </a:solidFill>
                <a:latin typeface="Manrope"/>
              </a:defRPr>
            </a:pPr>
            <a:r>
              <a:t>Students in halls, commuters, and desk workers cannot eat toast conveniently.</a:t>
            </a:r>
          </a:p>
          <a:p>
            <a:pPr>
              <a:defRPr>
                <a:latin typeface="Manrope"/>
              </a:defRPr>
            </a:pPr>
          </a:p>
          <a:p>
            <a:pPr>
              <a:spcAft>
                <a:spcPts val="200"/>
              </a:spcAft>
              <a:defRPr sz="1500" b="1">
                <a:solidFill>
                  <a:srgbClr val="FFFFFF"/>
                </a:solidFill>
                <a:latin typeface="Manrope"/>
              </a:defRPr>
            </a:pPr>
            <a:r>
              <a:t>Stationary &amp; Bulky</a:t>
            </a:r>
          </a:p>
          <a:p>
            <a:pPr>
              <a:spcAft>
                <a:spcPts val="1400"/>
              </a:spcAft>
              <a:defRPr sz="1200" b="0">
                <a:solidFill>
                  <a:srgbClr val="FFFFFF"/>
                </a:solidFill>
                <a:latin typeface="Manrope"/>
              </a:defRPr>
            </a:pPr>
            <a:r>
              <a:t>Heavy glass jars sit immobile in pantries rather than travelling on-the-go.</a:t>
            </a:r>
          </a:p>
        </p:txBody>
      </p:sp>
      <p:sp>
        <p:nvSpPr>
          <p:cNvPr id="7" name="Rounded Rectangle 6"/>
          <p:cNvSpPr/>
          <p:nvPr/>
        </p:nvSpPr>
        <p:spPr>
          <a:xfrm>
            <a:off x="6217920" y="2011680"/>
            <a:ext cx="5120640" cy="4114800"/>
          </a:xfrm>
          <a:prstGeom prst="roundRect">
            <a:avLst/>
          </a:prstGeom>
          <a:solidFill>
            <a:srgbClr val="2D1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2377440"/>
            <a:ext cx="4389120" cy="3383280"/>
          </a:xfrm>
          <a:prstGeom prst="rect">
            <a:avLst/>
          </a:prstGeom>
          <a:noFill/>
        </p:spPr>
        <p:txBody>
          <a:bodyPr wrap="square" lIns="0" tIns="0" rIns="0" bIns="0">
            <a:spAutoFit/>
          </a:bodyPr>
          <a:lstStyle/>
          <a:p>
            <a:pPr>
              <a:spcAft>
                <a:spcPts val="2000"/>
              </a:spcAft>
              <a:defRPr sz="2000" b="1">
                <a:solidFill>
                  <a:srgbClr val="FFD640"/>
                </a:solidFill>
                <a:latin typeface="Manrope"/>
              </a:defRPr>
            </a:pPr>
            <a:r>
              <a:t>THE STAMP SOLUTION</a:t>
            </a:r>
          </a:p>
          <a:p>
            <a:pPr>
              <a:spcAft>
                <a:spcPts val="200"/>
              </a:spcAft>
              <a:defRPr sz="1500" b="1">
                <a:solidFill>
                  <a:srgbClr val="FFFFFF"/>
                </a:solidFill>
                <a:latin typeface="Manrope"/>
              </a:defRPr>
            </a:pPr>
            <a:r>
              <a:t>10 g Peel-and-Press Disc</a:t>
            </a:r>
          </a:p>
          <a:p>
            <a:pPr>
              <a:spcAft>
                <a:spcPts val="1400"/>
              </a:spcAft>
              <a:defRPr sz="1200" b="0">
                <a:solidFill>
                  <a:srgbClr val="FFFFFF"/>
                </a:solidFill>
                <a:latin typeface="Manrope"/>
              </a:defRPr>
            </a:pPr>
            <a:r>
              <a:t>Pre-portioned spread mounted on food-grade release film.</a:t>
            </a:r>
          </a:p>
          <a:p>
            <a:pPr>
              <a:defRPr>
                <a:latin typeface="Manrope"/>
              </a:defRPr>
            </a:pPr>
          </a:p>
          <a:p>
            <a:pPr>
              <a:spcAft>
                <a:spcPts val="200"/>
              </a:spcAft>
              <a:defRPr sz="1500" b="1">
                <a:solidFill>
                  <a:srgbClr val="FFFFFF"/>
                </a:solidFill>
                <a:latin typeface="Manrope"/>
              </a:defRPr>
            </a:pPr>
            <a:r>
              <a:t>Thermal Spread Gesture</a:t>
            </a:r>
          </a:p>
          <a:p>
            <a:pPr>
              <a:spcAft>
                <a:spcPts val="1400"/>
              </a:spcAft>
              <a:defRPr sz="1200" b="0">
                <a:solidFill>
                  <a:srgbClr val="FFFFFF"/>
                </a:solidFill>
                <a:latin typeface="Manrope"/>
              </a:defRPr>
            </a:pPr>
            <a:r>
              <a:t>Presses onto hot bread; melts evenly in seconds with zero cutlery.</a:t>
            </a:r>
          </a:p>
          <a:p>
            <a:pPr>
              <a:defRPr>
                <a:latin typeface="Manrope"/>
              </a:defRPr>
            </a:pPr>
          </a:p>
          <a:p>
            <a:pPr>
              <a:spcAft>
                <a:spcPts val="200"/>
              </a:spcAft>
              <a:defRPr sz="1500" b="1">
                <a:solidFill>
                  <a:srgbClr val="FFFFFF"/>
                </a:solidFill>
                <a:latin typeface="Manrope"/>
              </a:defRPr>
            </a:pPr>
            <a:r>
              <a:t>12-Month Ambient Stability</a:t>
            </a:r>
          </a:p>
          <a:p>
            <a:pPr>
              <a:spcAft>
                <a:spcPts val="1400"/>
              </a:spcAft>
              <a:defRPr sz="1200" b="0">
                <a:solidFill>
                  <a:srgbClr val="FFFFFF"/>
                </a:solidFill>
                <a:latin typeface="Manrope"/>
              </a:defRPr>
            </a:pPr>
            <a:r>
              <a:t>Sealed card sheets provide verified shelf stability without refrigeration.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9144000" cy="365760"/>
          </a:xfrm>
          <a:prstGeom prst="rect">
            <a:avLst/>
          </a:prstGeom>
          <a:noFill/>
        </p:spPr>
        <p:txBody>
          <a:bodyPr wrap="none" lIns="0" tIns="0" rIns="0" bIns="0">
            <a:spAutoFit/>
          </a:bodyPr>
          <a:lstStyle/>
          <a:p>
            <a:pPr>
              <a:defRPr sz="1200" b="1">
                <a:solidFill>
                  <a:srgbClr val="FF467A"/>
                </a:solidFill>
                <a:latin typeface="Manrope"/>
              </a:defRPr>
            </a:pPr>
            <a:r>
              <a:t>02 / MARKET OPPORTUNITY  •  PITCH PART 2 (30 SECONDS)</a:t>
            </a:r>
          </a:p>
        </p:txBody>
      </p:sp>
      <p:sp>
        <p:nvSpPr>
          <p:cNvPr id="4" name="TextBox 3"/>
          <p:cNvSpPr txBox="1"/>
          <p:nvPr/>
        </p:nvSpPr>
        <p:spPr>
          <a:xfrm>
            <a:off x="822960" y="841248"/>
            <a:ext cx="10698480" cy="1005840"/>
          </a:xfrm>
          <a:prstGeom prst="rect">
            <a:avLst/>
          </a:prstGeom>
          <a:noFill/>
        </p:spPr>
        <p:txBody>
          <a:bodyPr wrap="square" lIns="0" tIns="0" rIns="0" bIns="0">
            <a:spAutoFit/>
          </a:bodyPr>
          <a:lstStyle/>
          <a:p>
            <a:pPr>
              <a:spcAft>
                <a:spcPts val="200"/>
              </a:spcAft>
              <a:defRPr sz="3200" b="1">
                <a:solidFill>
                  <a:srgbClr val="FFFFFF"/>
                </a:solidFill>
                <a:latin typeface="Manrope"/>
              </a:defRPr>
            </a:pPr>
            <a:r>
              <a:t>$341M Category. 0 Rivals.</a:t>
            </a:r>
          </a:p>
          <a:p>
            <a:pPr>
              <a:defRPr sz="1400" b="0">
                <a:solidFill>
                  <a:srgbClr val="FF467A"/>
                </a:solidFill>
                <a:latin typeface="Manrope"/>
              </a:defRPr>
            </a:pPr>
            <a:r>
              <a:t>Capturing the premium convenience gap in New Zealand breakfast retail.</a:t>
            </a:r>
          </a:p>
        </p:txBody>
      </p:sp>
      <p:sp>
        <p:nvSpPr>
          <p:cNvPr id="5" name="Rounded Rectangle 4"/>
          <p:cNvSpPr/>
          <p:nvPr/>
        </p:nvSpPr>
        <p:spPr>
          <a:xfrm>
            <a:off x="822960" y="2011680"/>
            <a:ext cx="3291840" cy="4114800"/>
          </a:xfrm>
          <a:prstGeom prst="roundRect">
            <a:avLst/>
          </a:prstGeom>
          <a:solidFill>
            <a:srgbClr val="2D0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377440"/>
            <a:ext cx="2743200" cy="3383280"/>
          </a:xfrm>
          <a:prstGeom prst="rect">
            <a:avLst/>
          </a:prstGeom>
          <a:noFill/>
        </p:spPr>
        <p:txBody>
          <a:bodyPr wrap="square" lIns="0" tIns="0" rIns="0" bIns="0">
            <a:spAutoFit/>
          </a:bodyPr>
          <a:lstStyle/>
          <a:p>
            <a:pPr>
              <a:spcAft>
                <a:spcPts val="400"/>
              </a:spcAft>
              <a:defRPr sz="4800" b="1">
                <a:solidFill>
                  <a:srgbClr val="FF467A"/>
                </a:solidFill>
                <a:latin typeface="Manrope"/>
              </a:defRPr>
            </a:pPr>
            <a:r>
              <a:t>$341M</a:t>
            </a:r>
          </a:p>
          <a:p>
            <a:pPr>
              <a:spcAft>
                <a:spcPts val="200"/>
              </a:spcAft>
              <a:defRPr sz="1300" b="1">
                <a:solidFill>
                  <a:srgbClr val="FFFFFF"/>
                </a:solidFill>
                <a:latin typeface="Manrope"/>
              </a:defRPr>
            </a:pPr>
            <a:r>
              <a:t>RETAIL CATEGORY</a:t>
            </a:r>
          </a:p>
          <a:p>
            <a:pPr>
              <a:spcAft>
                <a:spcPts val="1600"/>
              </a:spcAft>
              <a:defRPr sz="1100" b="1">
                <a:solidFill>
                  <a:srgbClr val="FF467A"/>
                </a:solidFill>
                <a:latin typeface="Manrope"/>
              </a:defRPr>
            </a:pPr>
            <a:r>
              <a:t>+24% Revenue Growth</a:t>
            </a:r>
          </a:p>
          <a:p>
            <a:pPr>
              <a:defRPr sz="1100">
                <a:solidFill>
                  <a:srgbClr val="FFFFFF"/>
                </a:solidFill>
                <a:latin typeface="Manrope"/>
              </a:defRPr>
            </a:pPr>
            <a:r>
              <a:t>Supermarket scan data shows spreads expanding from $275M to $341M NZD (2022–2025). Premium spreads surged +29% to $113M.</a:t>
            </a:r>
          </a:p>
        </p:txBody>
      </p:sp>
      <p:sp>
        <p:nvSpPr>
          <p:cNvPr id="7" name="Rounded Rectangle 6"/>
          <p:cNvSpPr/>
          <p:nvPr/>
        </p:nvSpPr>
        <p:spPr>
          <a:xfrm>
            <a:off x="4434840" y="2011680"/>
            <a:ext cx="3291840" cy="4114800"/>
          </a:xfrm>
          <a:prstGeom prst="roundRect">
            <a:avLst/>
          </a:prstGeom>
          <a:solidFill>
            <a:srgbClr val="2D0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60" y="2377440"/>
            <a:ext cx="2743200" cy="3383280"/>
          </a:xfrm>
          <a:prstGeom prst="rect">
            <a:avLst/>
          </a:prstGeom>
          <a:noFill/>
        </p:spPr>
        <p:txBody>
          <a:bodyPr wrap="square" lIns="0" tIns="0" rIns="0" bIns="0">
            <a:spAutoFit/>
          </a:bodyPr>
          <a:lstStyle/>
          <a:p>
            <a:pPr>
              <a:spcAft>
                <a:spcPts val="400"/>
              </a:spcAft>
              <a:defRPr sz="4800" b="1">
                <a:solidFill>
                  <a:srgbClr val="FF467A"/>
                </a:solidFill>
                <a:latin typeface="Manrope"/>
              </a:defRPr>
            </a:pPr>
            <a:r>
              <a:t>0</a:t>
            </a:r>
          </a:p>
          <a:p>
            <a:pPr>
              <a:spcAft>
                <a:spcPts val="200"/>
              </a:spcAft>
              <a:defRPr sz="1300" b="1">
                <a:solidFill>
                  <a:srgbClr val="FFFFFF"/>
                </a:solidFill>
                <a:latin typeface="Manrope"/>
              </a:defRPr>
            </a:pPr>
            <a:r>
              <a:t>FORMAT COMPETITORS</a:t>
            </a:r>
          </a:p>
          <a:p>
            <a:pPr>
              <a:spcAft>
                <a:spcPts val="1600"/>
              </a:spcAft>
              <a:defRPr sz="1100" b="1">
                <a:solidFill>
                  <a:srgbClr val="FF467A"/>
                </a:solidFill>
                <a:latin typeface="Manrope"/>
              </a:defRPr>
            </a:pPr>
            <a:r>
              <a:t>100% Format Vacuum</a:t>
            </a:r>
          </a:p>
          <a:p>
            <a:pPr>
              <a:defRPr sz="1100">
                <a:solidFill>
                  <a:srgbClr val="FFFFFF"/>
                </a:solidFill>
                <a:latin typeface="Manrope"/>
              </a:defRPr>
            </a:pPr>
            <a:r>
              <a:t>Across 154 existing New Zealand spread products, not a single brand offers a utensil-free, single-serve format.</a:t>
            </a:r>
          </a:p>
        </p:txBody>
      </p:sp>
      <p:sp>
        <p:nvSpPr>
          <p:cNvPr id="9" name="Rounded Rectangle 8"/>
          <p:cNvSpPr/>
          <p:nvPr/>
        </p:nvSpPr>
        <p:spPr>
          <a:xfrm>
            <a:off x="8046720" y="2011680"/>
            <a:ext cx="3291840" cy="4114800"/>
          </a:xfrm>
          <a:prstGeom prst="roundRect">
            <a:avLst/>
          </a:prstGeom>
          <a:solidFill>
            <a:srgbClr val="2D0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377440"/>
            <a:ext cx="2743200" cy="3383280"/>
          </a:xfrm>
          <a:prstGeom prst="rect">
            <a:avLst/>
          </a:prstGeom>
          <a:noFill/>
        </p:spPr>
        <p:txBody>
          <a:bodyPr wrap="square" lIns="0" tIns="0" rIns="0" bIns="0">
            <a:spAutoFit/>
          </a:bodyPr>
          <a:lstStyle/>
          <a:p>
            <a:pPr>
              <a:spcAft>
                <a:spcPts val="400"/>
              </a:spcAft>
              <a:defRPr sz="4800" b="1">
                <a:solidFill>
                  <a:srgbClr val="FF467A"/>
                </a:solidFill>
                <a:latin typeface="Manrope"/>
              </a:defRPr>
            </a:pPr>
            <a:r>
              <a:t>$1.75</a:t>
            </a:r>
          </a:p>
          <a:p>
            <a:pPr>
              <a:spcAft>
                <a:spcPts val="200"/>
              </a:spcAft>
              <a:defRPr sz="1300" b="1">
                <a:solidFill>
                  <a:srgbClr val="FFFFFF"/>
                </a:solidFill>
                <a:latin typeface="Manrope"/>
              </a:defRPr>
            </a:pPr>
            <a:r>
              <a:t>GROSS CONTRIBUTION</a:t>
            </a:r>
          </a:p>
          <a:p>
            <a:pPr>
              <a:spcAft>
                <a:spcPts val="1600"/>
              </a:spcAft>
              <a:defRPr sz="1100" b="1">
                <a:solidFill>
                  <a:srgbClr val="FF467A"/>
                </a:solidFill>
                <a:latin typeface="Manrope"/>
              </a:defRPr>
            </a:pPr>
            <a:r>
              <a:t>Strong Unit Economics</a:t>
            </a:r>
          </a:p>
          <a:p>
            <a:pPr>
              <a:defRPr sz="1100">
                <a:solidFill>
                  <a:srgbClr val="FFFFFF"/>
                </a:solidFill>
                <a:latin typeface="Manrope"/>
              </a:defRPr>
            </a:pPr>
            <a:r>
              <a:t>Priced at $5.00 NZD per sheet (63¢ / toast portion). At an assumed $1.50 co-packing cost and 35% retail margin, Stamp retains $1.75 per sheet.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E24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9144000" cy="365760"/>
          </a:xfrm>
          <a:prstGeom prst="rect">
            <a:avLst/>
          </a:prstGeom>
          <a:noFill/>
        </p:spPr>
        <p:txBody>
          <a:bodyPr wrap="none" lIns="0" tIns="0" rIns="0" bIns="0">
            <a:spAutoFit/>
          </a:bodyPr>
          <a:lstStyle/>
          <a:p>
            <a:pPr>
              <a:defRPr sz="1200" b="1">
                <a:solidFill>
                  <a:srgbClr val="FF8C30"/>
                </a:solidFill>
                <a:latin typeface="Manrope"/>
              </a:defRPr>
            </a:pPr>
            <a:r>
              <a:t>03 / PERSONAL REFLECTION  •  PART 2 (STUDENT'S OWN VOICE)</a:t>
            </a:r>
          </a:p>
        </p:txBody>
      </p:sp>
      <p:sp>
        <p:nvSpPr>
          <p:cNvPr id="4" name="TextBox 3"/>
          <p:cNvSpPr txBox="1"/>
          <p:nvPr/>
        </p:nvSpPr>
        <p:spPr>
          <a:xfrm>
            <a:off x="822960" y="841248"/>
            <a:ext cx="10698480" cy="1005840"/>
          </a:xfrm>
          <a:prstGeom prst="rect">
            <a:avLst/>
          </a:prstGeom>
          <a:noFill/>
        </p:spPr>
        <p:txBody>
          <a:bodyPr wrap="square" lIns="0" tIns="0" rIns="0" bIns="0">
            <a:spAutoFit/>
          </a:bodyPr>
          <a:lstStyle/>
          <a:p>
            <a:pPr>
              <a:spcAft>
                <a:spcPts val="200"/>
              </a:spcAft>
              <a:defRPr sz="3200" b="1">
                <a:solidFill>
                  <a:srgbClr val="FFFFFF"/>
                </a:solidFill>
                <a:latin typeface="Manrope"/>
              </a:defRPr>
            </a:pPr>
            <a:r>
              <a:t>Steering &amp; Verification</a:t>
            </a:r>
          </a:p>
          <a:p>
            <a:pPr>
              <a:defRPr sz="1400" b="0">
                <a:solidFill>
                  <a:srgbClr val="FF8C30"/>
                </a:solidFill>
                <a:latin typeface="Manrope"/>
              </a:defRPr>
            </a:pPr>
            <a:r>
              <a:t>Key takeaways from prompt engineering, session partitioning, and fact-checking.</a:t>
            </a:r>
          </a:p>
        </p:txBody>
      </p:sp>
      <p:sp>
        <p:nvSpPr>
          <p:cNvPr id="5" name="Rounded Rectangle 4"/>
          <p:cNvSpPr/>
          <p:nvPr/>
        </p:nvSpPr>
        <p:spPr>
          <a:xfrm>
            <a:off x="822960" y="2011680"/>
            <a:ext cx="3291840" cy="4114800"/>
          </a:xfrm>
          <a:prstGeom prst="roundRect">
            <a:avLst/>
          </a:prstGeom>
          <a:solidFill>
            <a:srgbClr val="2D14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377440"/>
            <a:ext cx="2743200" cy="3383280"/>
          </a:xfrm>
          <a:prstGeom prst="rect">
            <a:avLst/>
          </a:prstGeom>
          <a:noFill/>
        </p:spPr>
        <p:txBody>
          <a:bodyPr wrap="square" lIns="0" tIns="0" rIns="0" bIns="0">
            <a:spAutoFit/>
          </a:bodyPr>
          <a:lstStyle/>
          <a:p>
            <a:pPr>
              <a:spcAft>
                <a:spcPts val="200"/>
              </a:spcAft>
              <a:defRPr sz="2800" b="1">
                <a:solidFill>
                  <a:srgbClr val="FF8C30"/>
                </a:solidFill>
                <a:latin typeface="Manrope"/>
              </a:defRPr>
            </a:pPr>
            <a:r>
              <a:t>01</a:t>
            </a:r>
          </a:p>
          <a:p>
            <a:pPr>
              <a:spcAft>
                <a:spcPts val="1400"/>
              </a:spcAft>
              <a:defRPr sz="1400" b="1">
                <a:solidFill>
                  <a:srgbClr val="FFFFFF"/>
                </a:solidFill>
                <a:latin typeface="Manrope"/>
              </a:defRPr>
            </a:pPr>
            <a:r>
              <a:t>CONTEXT STEERING</a:t>
            </a:r>
          </a:p>
          <a:p>
            <a:pPr>
              <a:spcAft>
                <a:spcPts val="200"/>
              </a:spcAft>
              <a:defRPr sz="1100" b="1">
                <a:solidFill>
                  <a:srgbClr val="FF8C30"/>
                </a:solidFill>
                <a:latin typeface="Manrope"/>
              </a:defRPr>
            </a:pPr>
            <a:r>
              <a:t>• Role Personas &amp; Negative Bans</a:t>
            </a:r>
          </a:p>
          <a:p>
            <a:pPr>
              <a:spcAft>
                <a:spcPts val="1200"/>
              </a:spcAft>
              <a:defRPr sz="1000">
                <a:solidFill>
                  <a:srgbClr val="FFFFFF"/>
                </a:solidFill>
                <a:latin typeface="Manrope"/>
              </a:defRPr>
            </a:pPr>
            <a:r>
              <a:t>Enforcing strict negative constraints against therapeutic health claims and fake certification badges prevented generic hallucinations.</a:t>
            </a:r>
          </a:p>
          <a:p>
            <a:pPr>
              <a:spcAft>
                <a:spcPts val="200"/>
              </a:spcAft>
              <a:defRPr sz="1100" b="1">
                <a:solidFill>
                  <a:srgbClr val="FF8C30"/>
                </a:solidFill>
                <a:latin typeface="Manrope"/>
              </a:defRPr>
            </a:pPr>
            <a:r>
              <a:t>• Session Partitioning</a:t>
            </a:r>
          </a:p>
          <a:p>
            <a:pPr>
              <a:defRPr sz="1000">
                <a:solidFill>
                  <a:srgbClr val="FFFFFF"/>
                </a:solidFill>
                <a:latin typeface="Manrope"/>
              </a:defRPr>
            </a:pPr>
            <a:r>
              <a:t>Isolating data analysis, brand spec, and copywriting into modular sessions eliminated context drift across the project.</a:t>
            </a:r>
          </a:p>
        </p:txBody>
      </p:sp>
      <p:sp>
        <p:nvSpPr>
          <p:cNvPr id="7" name="Rounded Rectangle 6"/>
          <p:cNvSpPr/>
          <p:nvPr/>
        </p:nvSpPr>
        <p:spPr>
          <a:xfrm>
            <a:off x="4434840" y="2011680"/>
            <a:ext cx="3291840" cy="4114800"/>
          </a:xfrm>
          <a:prstGeom prst="roundRect">
            <a:avLst/>
          </a:prstGeom>
          <a:solidFill>
            <a:srgbClr val="2D14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60" y="2377440"/>
            <a:ext cx="2743200" cy="3383280"/>
          </a:xfrm>
          <a:prstGeom prst="rect">
            <a:avLst/>
          </a:prstGeom>
          <a:noFill/>
        </p:spPr>
        <p:txBody>
          <a:bodyPr wrap="square" lIns="0" tIns="0" rIns="0" bIns="0">
            <a:spAutoFit/>
          </a:bodyPr>
          <a:lstStyle/>
          <a:p>
            <a:pPr>
              <a:spcAft>
                <a:spcPts val="200"/>
              </a:spcAft>
              <a:defRPr sz="2800" b="1">
                <a:solidFill>
                  <a:srgbClr val="FF8C30"/>
                </a:solidFill>
                <a:latin typeface="Manrope"/>
              </a:defRPr>
            </a:pPr>
            <a:r>
              <a:t>02</a:t>
            </a:r>
          </a:p>
          <a:p>
            <a:pPr>
              <a:spcAft>
                <a:spcPts val="1400"/>
              </a:spcAft>
              <a:defRPr sz="1400" b="1">
                <a:solidFill>
                  <a:srgbClr val="FFFFFF"/>
                </a:solidFill>
                <a:latin typeface="Manrope"/>
              </a:defRPr>
            </a:pPr>
            <a:r>
              <a:t>TURNING POINT</a:t>
            </a:r>
          </a:p>
          <a:p>
            <a:pPr>
              <a:spcAft>
                <a:spcPts val="200"/>
              </a:spcAft>
              <a:defRPr sz="1100" b="1">
                <a:solidFill>
                  <a:srgbClr val="FF8C30"/>
                </a:solidFill>
                <a:latin typeface="Manrope"/>
              </a:defRPr>
            </a:pPr>
            <a:r>
              <a:t>• Catching Butter Instability</a:t>
            </a:r>
          </a:p>
          <a:p>
            <a:pPr>
              <a:spcAft>
                <a:spcPts val="1200"/>
              </a:spcAft>
              <a:defRPr sz="1000">
                <a:solidFill>
                  <a:srgbClr val="FFFFFF"/>
                </a:solidFill>
                <a:latin typeface="Manrope"/>
              </a:defRPr>
            </a:pPr>
            <a:r>
              <a:t>Caught an unrealistic AI assumption that dairy butter could sit ambiently; forced reformulation into cultured dairy spread.</a:t>
            </a:r>
          </a:p>
          <a:p>
            <a:pPr>
              <a:spcAft>
                <a:spcPts val="200"/>
              </a:spcAft>
              <a:defRPr sz="1100" b="1">
                <a:solidFill>
                  <a:srgbClr val="FF8C30"/>
                </a:solidFill>
                <a:latin typeface="Manrope"/>
              </a:defRPr>
            </a:pPr>
            <a:r>
              <a:t>• Independent Verification</a:t>
            </a:r>
          </a:p>
          <a:p>
            <a:pPr>
              <a:defRPr sz="1000">
                <a:solidFill>
                  <a:srgbClr val="FFFFFF"/>
                </a:solidFill>
                <a:latin typeface="Manrope"/>
              </a:defRPr>
            </a:pPr>
            <a:r>
              <a:t>Manually cross-checked real supermarket scan formulas and live New World pricing rather than trusting raw AI figures.</a:t>
            </a:r>
          </a:p>
        </p:txBody>
      </p:sp>
      <p:sp>
        <p:nvSpPr>
          <p:cNvPr id="9" name="Rounded Rectangle 8"/>
          <p:cNvSpPr/>
          <p:nvPr/>
        </p:nvSpPr>
        <p:spPr>
          <a:xfrm>
            <a:off x="8046720" y="2011680"/>
            <a:ext cx="3291840" cy="4114800"/>
          </a:xfrm>
          <a:prstGeom prst="roundRect">
            <a:avLst/>
          </a:prstGeom>
          <a:solidFill>
            <a:srgbClr val="2D14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377440"/>
            <a:ext cx="2743200" cy="3383280"/>
          </a:xfrm>
          <a:prstGeom prst="rect">
            <a:avLst/>
          </a:prstGeom>
          <a:noFill/>
        </p:spPr>
        <p:txBody>
          <a:bodyPr wrap="square" lIns="0" tIns="0" rIns="0" bIns="0">
            <a:spAutoFit/>
          </a:bodyPr>
          <a:lstStyle/>
          <a:p>
            <a:pPr>
              <a:spcAft>
                <a:spcPts val="200"/>
              </a:spcAft>
              <a:defRPr sz="2800" b="1">
                <a:solidFill>
                  <a:srgbClr val="FF8C30"/>
                </a:solidFill>
                <a:latin typeface="Manrope"/>
              </a:defRPr>
            </a:pPr>
            <a:r>
              <a:t>03</a:t>
            </a:r>
          </a:p>
          <a:p>
            <a:pPr>
              <a:spcAft>
                <a:spcPts val="1400"/>
              </a:spcAft>
              <a:defRPr sz="1400" b="1">
                <a:solidFill>
                  <a:srgbClr val="FFFFFF"/>
                </a:solidFill>
                <a:latin typeface="Manrope"/>
              </a:defRPr>
            </a:pPr>
            <a:r>
              <a:t>FUTURE PRACTICE</a:t>
            </a:r>
          </a:p>
          <a:p>
            <a:pPr>
              <a:spcAft>
                <a:spcPts val="200"/>
              </a:spcAft>
              <a:defRPr sz="1100" b="1">
                <a:solidFill>
                  <a:srgbClr val="FF8C30"/>
                </a:solidFill>
                <a:latin typeface="Manrope"/>
              </a:defRPr>
            </a:pPr>
            <a:r>
              <a:t>• AI as Drafter, Not Director</a:t>
            </a:r>
          </a:p>
          <a:p>
            <a:pPr>
              <a:spcAft>
                <a:spcPts val="1200"/>
              </a:spcAft>
              <a:defRPr sz="1000">
                <a:solidFill>
                  <a:srgbClr val="FFFFFF"/>
                </a:solidFill>
                <a:latin typeface="Manrope"/>
              </a:defRPr>
            </a:pPr>
            <a:r>
              <a:t>Treating model outputs strictly as draft hypotheses requiring rigorous empirical validation.</a:t>
            </a:r>
          </a:p>
          <a:p>
            <a:pPr>
              <a:spcAft>
                <a:spcPts val="200"/>
              </a:spcAft>
              <a:defRPr sz="1100" b="1">
                <a:solidFill>
                  <a:srgbClr val="FF8C30"/>
                </a:solidFill>
                <a:latin typeface="Manrope"/>
              </a:defRPr>
            </a:pPr>
            <a:r>
              <a:t>• Locked Core Specifications</a:t>
            </a:r>
          </a:p>
          <a:p>
            <a:pPr>
              <a:defRPr sz="1000">
                <a:solidFill>
                  <a:srgbClr val="FFFFFF"/>
                </a:solidFill>
                <a:latin typeface="Manrope"/>
              </a:defRPr>
            </a:pPr>
            <a:r>
              <a:t>Establishing fixed data schemas and non-negotiable brand specs before initiating generative drafting tasks.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0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9144000" cy="365760"/>
          </a:xfrm>
          <a:prstGeom prst="rect">
            <a:avLst/>
          </a:prstGeom>
          <a:noFill/>
        </p:spPr>
        <p:txBody>
          <a:bodyPr wrap="none" lIns="0" tIns="0" rIns="0" bIns="0">
            <a:spAutoFit/>
          </a:bodyPr>
          <a:lstStyle/>
          <a:p>
            <a:pPr>
              <a:defRPr sz="1200" b="1">
                <a:solidFill>
                  <a:srgbClr val="E24BFF"/>
                </a:solidFill>
                <a:latin typeface="Manrope"/>
              </a:defRPr>
            </a:pPr>
            <a:r>
              <a:t>04 / CRITICAL ETHICS  •  PART 2 (STUDENT'S OWN VOICE)</a:t>
            </a:r>
          </a:p>
        </p:txBody>
      </p:sp>
      <p:sp>
        <p:nvSpPr>
          <p:cNvPr id="4" name="TextBox 3"/>
          <p:cNvSpPr txBox="1"/>
          <p:nvPr/>
        </p:nvSpPr>
        <p:spPr>
          <a:xfrm>
            <a:off x="822960" y="841248"/>
            <a:ext cx="10698480" cy="1005840"/>
          </a:xfrm>
          <a:prstGeom prst="rect">
            <a:avLst/>
          </a:prstGeom>
          <a:noFill/>
        </p:spPr>
        <p:txBody>
          <a:bodyPr wrap="square" lIns="0" tIns="0" rIns="0" bIns="0">
            <a:spAutoFit/>
          </a:bodyPr>
          <a:lstStyle/>
          <a:p>
            <a:pPr>
              <a:spcAft>
                <a:spcPts val="200"/>
              </a:spcAft>
              <a:defRPr sz="3200" b="1">
                <a:solidFill>
                  <a:srgbClr val="FFFFFF"/>
                </a:solidFill>
                <a:latin typeface="Manrope"/>
              </a:defRPr>
            </a:pPr>
            <a:r>
              <a:t>Authenticity &amp; Accountability</a:t>
            </a:r>
          </a:p>
          <a:p>
            <a:pPr>
              <a:defRPr sz="1400" b="0">
                <a:solidFill>
                  <a:srgbClr val="E24BFF"/>
                </a:solidFill>
                <a:latin typeface="Manrope"/>
              </a:defRPr>
            </a:pPr>
            <a:r>
              <a:t>Combating AI slop, regulatory food liabilities, and human ownership.</a:t>
            </a:r>
          </a:p>
        </p:txBody>
      </p:sp>
      <p:sp>
        <p:nvSpPr>
          <p:cNvPr id="5" name="Rounded Rectangle 4"/>
          <p:cNvSpPr/>
          <p:nvPr/>
        </p:nvSpPr>
        <p:spPr>
          <a:xfrm>
            <a:off x="822960" y="2011680"/>
            <a:ext cx="3291840" cy="411480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377440"/>
            <a:ext cx="2743200" cy="3383280"/>
          </a:xfrm>
          <a:prstGeom prst="rect">
            <a:avLst/>
          </a:prstGeom>
          <a:noFill/>
        </p:spPr>
        <p:txBody>
          <a:bodyPr wrap="square" lIns="0" tIns="0" rIns="0" bIns="0">
            <a:spAutoFit/>
          </a:bodyPr>
          <a:lstStyle/>
          <a:p>
            <a:pPr>
              <a:spcAft>
                <a:spcPts val="200"/>
              </a:spcAft>
              <a:defRPr sz="2800" b="1">
                <a:solidFill>
                  <a:srgbClr val="E24BFF"/>
                </a:solidFill>
                <a:latin typeface="Manrope"/>
              </a:defRPr>
            </a:pPr>
            <a:r>
              <a:t>01</a:t>
            </a:r>
          </a:p>
          <a:p>
            <a:pPr>
              <a:spcAft>
                <a:spcPts val="1400"/>
              </a:spcAft>
              <a:defRPr sz="1400" b="1">
                <a:solidFill>
                  <a:srgbClr val="FFFFFF"/>
                </a:solidFill>
                <a:latin typeface="Manrope"/>
              </a:defRPr>
            </a:pPr>
            <a:r>
              <a:t>COMBATING 'AI SLOP'</a:t>
            </a:r>
          </a:p>
          <a:p>
            <a:pPr>
              <a:spcAft>
                <a:spcPts val="200"/>
              </a:spcAft>
              <a:defRPr sz="1100" b="1">
                <a:solidFill>
                  <a:srgbClr val="E24BFF"/>
                </a:solidFill>
                <a:latin typeface="Manrope"/>
              </a:defRPr>
            </a:pPr>
            <a:r>
              <a:t>• Stripping Hyperbolic Jargon</a:t>
            </a:r>
          </a:p>
          <a:p>
            <a:pPr>
              <a:spcAft>
                <a:spcPts val="1200"/>
              </a:spcAft>
              <a:defRPr sz="1000">
                <a:solidFill>
                  <a:srgbClr val="FFFFFF"/>
                </a:solidFill>
                <a:latin typeface="Manrope"/>
              </a:defRPr>
            </a:pPr>
            <a:r>
              <a:t>Actively rejected generic corporate cliches ('game-changer', 'revolutionary journey') in favor of punchy facts: 'Peel. Press. Toast.'</a:t>
            </a:r>
          </a:p>
          <a:p>
            <a:pPr>
              <a:spcAft>
                <a:spcPts val="200"/>
              </a:spcAft>
              <a:defRPr sz="1100" b="1">
                <a:solidFill>
                  <a:srgbClr val="E24BFF"/>
                </a:solidFill>
                <a:latin typeface="Manrope"/>
              </a:defRPr>
            </a:pPr>
            <a:r>
              <a:t>• Physical Reality Over Fantasy</a:t>
            </a:r>
          </a:p>
          <a:p>
            <a:pPr>
              <a:defRPr sz="1000">
                <a:solidFill>
                  <a:srgbClr val="FFFFFF"/>
                </a:solidFill>
                <a:latin typeface="Manrope"/>
              </a:defRPr>
            </a:pPr>
            <a:r>
              <a:t>Grounded product specifications in real packaging engineering (continuous deposit, release film) rather than impossible AI mockups.</a:t>
            </a:r>
          </a:p>
        </p:txBody>
      </p:sp>
      <p:sp>
        <p:nvSpPr>
          <p:cNvPr id="7" name="Rounded Rectangle 6"/>
          <p:cNvSpPr/>
          <p:nvPr/>
        </p:nvSpPr>
        <p:spPr>
          <a:xfrm>
            <a:off x="4434840" y="2011680"/>
            <a:ext cx="3291840" cy="411480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60" y="2377440"/>
            <a:ext cx="2743200" cy="3383280"/>
          </a:xfrm>
          <a:prstGeom prst="rect">
            <a:avLst/>
          </a:prstGeom>
          <a:noFill/>
        </p:spPr>
        <p:txBody>
          <a:bodyPr wrap="square" lIns="0" tIns="0" rIns="0" bIns="0">
            <a:spAutoFit/>
          </a:bodyPr>
          <a:lstStyle/>
          <a:p>
            <a:pPr>
              <a:spcAft>
                <a:spcPts val="200"/>
              </a:spcAft>
              <a:defRPr sz="2800" b="1">
                <a:solidFill>
                  <a:srgbClr val="E24BFF"/>
                </a:solidFill>
                <a:latin typeface="Manrope"/>
              </a:defRPr>
            </a:pPr>
            <a:r>
              <a:t>02</a:t>
            </a:r>
          </a:p>
          <a:p>
            <a:pPr>
              <a:spcAft>
                <a:spcPts val="1400"/>
              </a:spcAft>
              <a:defRPr sz="1400" b="1">
                <a:solidFill>
                  <a:srgbClr val="FFFFFF"/>
                </a:solidFill>
                <a:latin typeface="Manrope"/>
              </a:defRPr>
            </a:pPr>
            <a:r>
              <a:t>FOOD REGULATION</a:t>
            </a:r>
          </a:p>
          <a:p>
            <a:pPr>
              <a:spcAft>
                <a:spcPts val="200"/>
              </a:spcAft>
              <a:defRPr sz="1100" b="1">
                <a:solidFill>
                  <a:srgbClr val="E24BFF"/>
                </a:solidFill>
                <a:latin typeface="Manrope"/>
              </a:defRPr>
            </a:pPr>
            <a:r>
              <a:t>• The Hallucination Danger</a:t>
            </a:r>
          </a:p>
          <a:p>
            <a:pPr>
              <a:spcAft>
                <a:spcPts val="1200"/>
              </a:spcAft>
              <a:defRPr sz="1000">
                <a:solidFill>
                  <a:srgbClr val="FFFFFF"/>
                </a:solidFill>
                <a:latin typeface="Manrope"/>
              </a:defRPr>
            </a:pPr>
            <a:r>
              <a:t>Unchecked models frequently invent fake organic labels, false 'gluten-free' badges, or illegal medical claims.</a:t>
            </a:r>
          </a:p>
          <a:p>
            <a:pPr>
              <a:spcAft>
                <a:spcPts val="200"/>
              </a:spcAft>
              <a:defRPr sz="1100" b="1">
                <a:solidFill>
                  <a:srgbClr val="E24BFF"/>
                </a:solidFill>
                <a:latin typeface="Manrope"/>
              </a:defRPr>
            </a:pPr>
            <a:r>
              <a:t>• FSANZ &amp; Allergen Responsibility</a:t>
            </a:r>
          </a:p>
          <a:p>
            <a:pPr>
              <a:defRPr sz="1000">
                <a:solidFill>
                  <a:srgbClr val="FFFFFF"/>
                </a:solidFill>
                <a:latin typeface="Manrope"/>
              </a:defRPr>
            </a:pPr>
            <a:r>
              <a:t>Enforced strict New Zealand food labeling standards and ensured life-threatening peanut and gluten warnings remained prominent.</a:t>
            </a:r>
          </a:p>
        </p:txBody>
      </p:sp>
      <p:sp>
        <p:nvSpPr>
          <p:cNvPr id="9" name="Rounded Rectangle 8"/>
          <p:cNvSpPr/>
          <p:nvPr/>
        </p:nvSpPr>
        <p:spPr>
          <a:xfrm>
            <a:off x="8046720" y="2011680"/>
            <a:ext cx="3291840" cy="411480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377440"/>
            <a:ext cx="2743200" cy="3383280"/>
          </a:xfrm>
          <a:prstGeom prst="rect">
            <a:avLst/>
          </a:prstGeom>
          <a:noFill/>
        </p:spPr>
        <p:txBody>
          <a:bodyPr wrap="square" lIns="0" tIns="0" rIns="0" bIns="0">
            <a:spAutoFit/>
          </a:bodyPr>
          <a:lstStyle/>
          <a:p>
            <a:pPr>
              <a:spcAft>
                <a:spcPts val="200"/>
              </a:spcAft>
              <a:defRPr sz="2800" b="1">
                <a:solidFill>
                  <a:srgbClr val="E24BFF"/>
                </a:solidFill>
                <a:latin typeface="Manrope"/>
              </a:defRPr>
            </a:pPr>
            <a:r>
              <a:t>03</a:t>
            </a:r>
          </a:p>
          <a:p>
            <a:pPr>
              <a:spcAft>
                <a:spcPts val="1400"/>
              </a:spcAft>
              <a:defRPr sz="1400" b="1">
                <a:solidFill>
                  <a:srgbClr val="FFFFFF"/>
                </a:solidFill>
                <a:latin typeface="Manrope"/>
              </a:defRPr>
            </a:pPr>
            <a:r>
              <a:t>KNOWLEDGE WORKERS</a:t>
            </a:r>
          </a:p>
          <a:p>
            <a:pPr>
              <a:spcAft>
                <a:spcPts val="200"/>
              </a:spcAft>
              <a:defRPr sz="1100" b="1">
                <a:solidFill>
                  <a:srgbClr val="E24BFF"/>
                </a:solidFill>
                <a:latin typeface="Manrope"/>
              </a:defRPr>
            </a:pPr>
            <a:r>
              <a:t>• Non-Delegable Accountability</a:t>
            </a:r>
          </a:p>
          <a:p>
            <a:pPr>
              <a:spcAft>
                <a:spcPts val="1200"/>
              </a:spcAft>
              <a:defRPr sz="1000">
                <a:solidFill>
                  <a:srgbClr val="FFFFFF"/>
                </a:solidFill>
                <a:latin typeface="Manrope"/>
              </a:defRPr>
            </a:pPr>
            <a:r>
              <a:t>When deploying AI commercially, legal, moral, and customer accountability can never be outsourced to an algorithm.</a:t>
            </a:r>
          </a:p>
          <a:p>
            <a:pPr>
              <a:spcAft>
                <a:spcPts val="200"/>
              </a:spcAft>
              <a:defRPr sz="1100" b="1">
                <a:solidFill>
                  <a:srgbClr val="E24BFF"/>
                </a:solidFill>
                <a:latin typeface="Manrope"/>
              </a:defRPr>
            </a:pPr>
            <a:r>
              <a:t>• Critical Thinking as Core Value</a:t>
            </a:r>
          </a:p>
          <a:p>
            <a:pPr>
              <a:defRPr sz="1000">
                <a:solidFill>
                  <a:srgbClr val="FFFFFF"/>
                </a:solidFill>
                <a:latin typeface="Manrope"/>
              </a:defRPr>
            </a:pPr>
            <a:r>
              <a:t>The primary skill of the future knowledge worker is skepticism, verification, taste, and active human agency.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