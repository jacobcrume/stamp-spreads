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[0:00–0:06 | 6s]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[0:06–0:11 | 5s]</a:t>
            </a:r>
          </a:p>
          <a:p>
            <a:r>
              <a:t>Eating toast away from a full residential kitchen is fundamentally broken. Jars require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[0:11–0:17 | 6s]</a:t>
            </a:r>
          </a:p>
          <a:p>
            <a:r>
              <a:t>Desk workers, students in dorms, and commuters can't lug sticky 500-gram glass jars or hunt for knives in shared office kitchens.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[0:17–0:23 | 6s]</a:t>
            </a:r>
          </a:p>
          <a:p>
            <a:r>
              <a:t>Tethered to kitchen counters, millions abandon toast for dry cereal bars. Portability has never existed for real breakfast spreads.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[0:23–0:31 | 8s]</a:t>
            </a:r>
          </a:p>
          <a:p>
            <a:r>
              <a:t>Stamp reinvents the category with calibrated 10-gram spread discs on release film across four iconic flavours: Salted Butter, Raspberry, Yeast, and Peanut.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[0:31–0:38 | 7s]</a:t>
            </a:r>
          </a:p>
          <a:p>
            <a:r>
              <a:t>You peel off the release liner and press the disc directly onto hot bread. Residual toast heat melts it in seconds—zero cutlery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[0:38–0:44 | 6s]</a:t>
            </a:r>
          </a:p>
          <a:p>
            <a:r>
              <a:t>High-stability emulsions deliver 12 months of ambient pantry life in slim, pocket-sized 8-stamp card sheets with zero refrigeration.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[0:44–0:50 | 6s]</a:t>
            </a:r>
          </a:p>
          <a:p>
            <a:r>
              <a:t>Cleaned retail supermarket scan data shows the New Zealand spreads market expanded 24% to a 341 million dollar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[0:50–0:58 | 8s]</a:t>
            </a:r>
          </a:p>
          <a:p>
            <a:r>
              <a:t>Premium spreads surged 29% from 88 million to 113 million dollars, proving kiwi consumers actively trade up for quality and portion convenience.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[0:58–1:04 | 6s]</a:t>
            </a:r>
          </a:p>
          <a:p>
            <a:r>
              <a:t>Across 154 supermarket spreads, every rival is a bulk glass jar. Zero single-serve or utensil-free formats exist in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[1:04–1:11 | 7s]</a:t>
            </a:r>
          </a:p>
          <a:p>
            <a:r>
              <a:t>At five dollars retail—just 63 cents a serving—we capture a 35% gross margin, netting one-seventy-five per pack to fund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[1:11–1:18 | 7s]</a:t>
            </a:r>
          </a:p>
          <a:p>
            <a:r>
              <a:t>Production uses standard contract rotary-die continuous deposit lines onto food-grade release liner with zero custom tooling outlay.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[1:18–1:25 | 7s]</a:t>
            </a:r>
          </a:p>
          <a:p>
            <a:r>
              <a:t>Partnering with established Auckland contract packagers lets us validate supermarket demand with minimal initial capital expenditure.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[1:25–1:36 | 11s]</a:t>
            </a:r>
          </a:p>
          <a:p>
            <a:r>
              <a:t>In steering the models, my most effective tool was negative prompt constraints—explicitly barring fake organic certifications, miracle health claims, and hyperbolic advertising jargon.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[1:36–1:47 | 11s]</a:t>
            </a:r>
          </a:p>
          <a:p>
            <a:r>
              <a:t>To prevent context drift, I partitioned distinct modular sessions for data cleaning, branding, packaging copy, and financial modeling, passing clean intermediate summaries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[1:47–2:00 | 13s]</a:t>
            </a:r>
          </a:p>
          <a:p>
            <a:r>
              <a:t>My pivotal moment occurred when the AI claimed standard churned butter could sit ambiently for 12 months. Catching this spoilage hallucination forced reformulation to a low-water-activity cultured dairy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[2:00–2:11 | 11s]</a:t>
            </a:r>
          </a:p>
          <a:p>
            <a:r>
              <a:t>I treated AI strictly as a junior drafter. I audited raw supermarket scan outliers and manually verified retail shelf prices rather than accepting model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[2:11–2:21 | 10s]</a:t>
            </a:r>
          </a:p>
          <a:p>
            <a:r>
              <a:t>To combat AI slop, I stripped corporate clichés in favour of grounded physical facts: Peel. Press. Toast., anchored in real contract manufacturing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[2:21–2:32 | 11s]</a:t>
            </a:r>
          </a:p>
          <a:p>
            <a:r>
              <a:t>In food and beverage, AI hallucinations are a lethal liability. I enforced strict FSANZ compliance and made allergen callouts prominent—errors here risk anaphylaxis.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[2:32–2:45 | 13s]</a:t>
            </a:r>
          </a:p>
          <a:p>
            <a:r>
              <a:t>Ultimately, moral and legal accountability can never be outsourced to an algorithm. Generative AI accelerates drafting velocity, but human skepticism, discernment, and ethical ownership remain indispensable.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2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20693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The Problem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Jars Require Infrastructure.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Table knives, kitchen benches, and hot running water.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Eating Away from Home is Broken.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Desk workers, commuters, and students in dorms.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Nobody carries a 500g sticky glass jar.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The Unmet Need.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Consumers abandon toast for dry cereal bars.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Portability has never existed for real breakfast spreads.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The Solution.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10 g spread discs on release film.</a:t>
            </a:r>
          </a:p>
        </p:txBody>
      </p:sp>
      <p:pic>
        <p:nvPicPr>
          <p:cNvPr id="4" name="Picture 3" descr="four_packs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2240280"/>
            <a:ext cx="9326880" cy="2866869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Zero Cutlery. Pure Physics.</a:t>
            </a:r>
          </a:p>
          <a:p>
            <a:pPr>
              <a:spcAft>
                <a:spcPts val="1400"/>
              </a:spcAft>
              <a:defRPr sz="2600" b="1">
                <a:solidFill>
                  <a:srgbClr val="FFD640"/>
                </a:solidFill>
                <a:latin typeface="Manrope"/>
              </a:defRPr>
            </a:pPr>
            <a:r>
              <a:t>Residual toast heat melts the disc in seconds.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Peel off the liner. Press onto hot toast. Zero utensils or mess.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12-Month Ambient Life.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High-stability emulsification for room temperature.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Hermetically sealed 8-stamp card sheets for pantry and bag.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$341M Category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New Zealand Spreads Market.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+24% category revenue growth across 2022–2025.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Premium Spreads Surging +29%.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Consumers trading up from commodity tiers into quality formats.</a:t>
            </a:r>
          </a:p>
        </p:txBody>
      </p:sp>
      <p:pic>
        <p:nvPicPr>
          <p:cNvPr id="4" name="Picture 3" descr="chart_tier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2148840"/>
            <a:ext cx="6035040" cy="3372522"/>
          </a:xfrm>
          <a:prstGeom prst="rect">
            <a:avLst/>
          </a:prstGeom>
        </p:spPr>
      </p:pic>
      <p:pic>
        <p:nvPicPr>
          <p:cNvPr id="5" name="Picture 4" descr="wordmark_pea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0 Rivals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Across 154 Supermarket Spreads.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Zero single-serve or utensil-free formats in NZ retail.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9202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F8C30"/>
                </a:solidFill>
                <a:latin typeface="Manrope"/>
              </a:defRPr>
            </a:pPr>
            <a:r>
              <a:t>35% Gross Margin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$5.00 Retail • $1.75 Margin per Pack.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63¢ per serving on an assumed $1.50 contract packaging cost.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FFFFFF"/>
                </a:solidFill>
                <a:latin typeface="Manrope"/>
              </a:defRPr>
            </a:pPr>
            <a:r>
              <a:t>Contract Co-Manufacturing.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Continuous deposit tooling onto food-grade release liner.</a:t>
            </a:r>
          </a:p>
        </p:txBody>
      </p:sp>
      <p:pic>
        <p:nvPicPr>
          <p:cNvPr id="4" name="Picture 3" descr="diagram_process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2286000"/>
            <a:ext cx="7315200" cy="2854712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Lean Capex Pilot.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Partnering with Auckland contract food packagers.</a:t>
            </a:r>
          </a:p>
          <a:p>
            <a:pPr>
              <a:defRPr sz="2000" b="1">
                <a:solidFill>
                  <a:srgbClr val="FFFFFF"/>
                </a:solidFill>
                <a:latin typeface="Manrope"/>
              </a:defRPr>
            </a:pPr>
            <a:r>
              <a:t>Zero heavy machinery outlay required for market entry.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Negative Constraints.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Banning AI Marketing Hype.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Explicit negative prompts barred fake badges and health claims.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Modular Architecture.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Separating data, branding, and copy eliminated context drift.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Catching Dairy Instability.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AI assumed table butter could sit ambiently.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Human intervention forced high-stability emulsion.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Auditing raw scan outliers and verifying live supermarket shelves.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Combating AI Slop.</a:t>
            </a:r>
          </a:p>
          <a:p>
            <a:pPr>
              <a:spcAft>
                <a:spcPts val="1400"/>
              </a:spcAft>
              <a:defRPr sz="2600" b="1">
                <a:solidFill>
                  <a:srgbClr val="E24BFF"/>
                </a:solidFill>
                <a:latin typeface="Manrope"/>
              </a:defRPr>
            </a:pPr>
            <a:r>
              <a:t>Stripping corporate buzzwords for plain human facts.</a:t>
            </a:r>
          </a:p>
          <a:p>
            <a:pPr>
              <a:defRPr sz="2400" b="1">
                <a:solidFill>
                  <a:srgbClr val="FFFFFF"/>
                </a:solidFill>
                <a:latin typeface="Manrope"/>
              </a:defRPr>
            </a:pPr>
            <a:r>
              <a:t>Peel. Press. Toast.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Strict FSANZ food laws and mandatory allergen warnings.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Moral, regulatory, and commercial ownership cannot be outsourced.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