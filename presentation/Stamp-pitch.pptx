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 (0:00–0:08)</a:t>
            </a:r>
          </a:p>
          <a:p>
            <a:r>
              <a:t>Kia ora. I'm Jacob, and this is Stamp: a New Zealand breakfast spread innovation engineered for hot toast.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 SLIDE (0:08–0:18)</a:t>
            </a:r>
          </a:p>
          <a:p>
            <a:r>
              <a:t>Eating toast away from a full kitchen is broken. When you're in a student hall, flat, or office desk, nobody wants to lug a sticky 750-gram jar, track down a table knife, and wash it in an office sink.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SOLUTION SLIDE (0:18–0:28)</a:t>
            </a:r>
          </a:p>
          <a:p>
            <a:r>
              <a:t>Stamp reinvents the format with a thin, 10-gram disc of real spread on release film. You peel it off, press it onto hot toast, and residual heat softens it into an even spread in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 SLIDE (0:28–0:34)</a:t>
            </a:r>
          </a:p>
          <a:p>
            <a:r>
              <a:t>We launch with four distinct flavours: Salted Butter, Raspberry, Yeast extract, and Peanut—pantry-stable for 12 months in an 8-stamp card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SCALE SLIDE (0:34–0:42)</a:t>
            </a:r>
          </a:p>
          <a:p>
            <a:r>
              <a:t>Our analysis of New Zealand breakfast retail sales shows spreads revenue grew 24% to 341 million dollars, with the premium tier surging 29% to 113 million.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COMPETITIVE VOID SLIDE (0:42–0:50)</a:t>
            </a:r>
          </a:p>
          <a:p>
            <a:r>
              <a:t>Yet across 154 existing spread products, not one offers a single-serve portion format. Supermarket jars like Pic's or Fix &amp; Fogg compete on bulk weight, but they are messy and stationary.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ECONOMICS SLIDE (0:50–0:58)</a:t>
            </a:r>
          </a:p>
          <a:p>
            <a:r>
              <a:t>At five dollars a sheet—just 63 cents a toast portion—Stamp captures premium convenience. With an assumed manufacturing cost of one-fifty, we retain a strong one-dollar-seventy-five gross margin per sheet. Stamp is ready to own portable breakfast.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REFLECTION SLIDE 1 (1:00–1:20)</a:t>
            </a:r>
          </a:p>
          <a:p>
            <a:r>
              <a:t>To steer generative AI effectively, I structured distinct sessions rather than one massive chat, and enforced strict negative constraints against fake certification badges and medical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TURNING POINT SLIDE (1:20–1:40)</a:t>
            </a:r>
          </a:p>
          <a:p>
            <a:r>
              <a:t>My key pivotal moment was catching an unrealistic AI assumption that dairy butter could sit ambiently without spoilage. I intervened to enforce a shelf-stable cultured dairy spread formula.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VERIFICATION SLIDE (1:40–1:55)</a:t>
            </a:r>
          </a:p>
          <a:p>
            <a:r>
              <a:t>I audited raw supermarket scan data to spot price outliers and independently verified competitor prices on New World rather than blindly trusting model calculations.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AUTHENTICITY SLIDE (1:55–2:15)</a:t>
            </a:r>
          </a:p>
          <a:p>
            <a:r>
              <a:t>To combat AI slop, I actively stripped out corporate buzzwords in favour of plain, punchy facts, and grounded packaging in real physical manufacturing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REGULATION SLIDE (2:15–2:30)</a:t>
            </a:r>
          </a:p>
          <a:p>
            <a:r>
              <a:t>In food and beverage, AI hallucinations are a severe legal hazard. I enforced strict compliance with New Zealand Food Standards and ensured life-threatening allergen warnings were never obscured.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ETHICS SLIDE (2:30–2:50)</a:t>
            </a:r>
          </a:p>
          <a:p>
            <a:r>
              <a:t>Ultimately, accountability can never be outsourced to a model. Generative AI accelerates execution, but human judgment, taste, skepticism, and moral ownership remain essential.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087" y="2103120"/>
            <a:ext cx="5303520" cy="1360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3738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24BFF"/>
                </a:solidFill>
                <a:latin typeface="Manrope"/>
              </a:defRPr>
            </a:pPr>
            <a:r>
              <a:t>PEEL. PRESS. TOAST.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852160"/>
            <a:ext cx="94484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FFFFFF"/>
                </a:solidFill>
                <a:latin typeface="Manrope"/>
              </a:defRPr>
            </a:pPr>
            <a:r>
              <a:t>Commercial Business Pitch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822960"/>
            <a:ext cx="96012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D640"/>
                </a:solidFill>
                <a:latin typeface="Manrope"/>
              </a:defRPr>
            </a:pPr>
            <a:r>
              <a:t>01 / THE PROBLEM  •  PITCH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234440"/>
            <a:ext cx="98755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4000" b="1">
                <a:solidFill>
                  <a:srgbClr val="FFFFFF"/>
                </a:solidFill>
                <a:latin typeface="Manrope"/>
              </a:defRPr>
            </a:pPr>
            <a:r>
              <a:t>Jars Require Infrastructure.</a:t>
            </a:r>
          </a:p>
          <a:p>
            <a:pPr>
              <a:defRPr sz="1700">
                <a:solidFill>
                  <a:srgbClr val="FFD640"/>
                </a:solidFill>
                <a:latin typeface="Manrope"/>
              </a:defRPr>
            </a:pPr>
            <a:r>
              <a:t>Table knives, kitchen counters, and sink washing. Breakfast away from home is broken.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926080"/>
            <a:ext cx="4754880" cy="3017520"/>
          </a:xfrm>
          <a:prstGeom prst="roundRect">
            <a:avLst/>
          </a:prstGeom>
          <a:solidFill>
            <a:srgbClr val="2D1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3291840"/>
            <a:ext cx="402336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FFD640"/>
                </a:solidFill>
                <a:latin typeface="Manrope"/>
              </a:defRPr>
            </a:pPr>
            <a:r>
              <a:t>Cutlery Dependency</a:t>
            </a:r>
          </a:p>
          <a:p>
            <a:pPr>
              <a:defRPr sz="1400">
                <a:solidFill>
                  <a:srgbClr val="FFFFFF"/>
                </a:solidFill>
                <a:latin typeface="Manrope"/>
              </a:defRPr>
            </a:pPr>
            <a:r>
              <a:t>Office breakrooms, university halls, and student flats lack clean table knives and preparation space.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926080"/>
            <a:ext cx="4754880" cy="3017520"/>
          </a:xfrm>
          <a:prstGeom prst="roundRect">
            <a:avLst/>
          </a:prstGeom>
          <a:solidFill>
            <a:srgbClr val="2D1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3291840"/>
            <a:ext cx="402336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FFD640"/>
                </a:solidFill>
                <a:latin typeface="Manrope"/>
              </a:defRPr>
            </a:pPr>
            <a:r>
              <a:t>Stationary &amp; Bulky</a:t>
            </a:r>
          </a:p>
          <a:p>
            <a:pPr>
              <a:defRPr sz="1400">
                <a:solidFill>
                  <a:srgbClr val="FFFFFF"/>
                </a:solidFill>
                <a:latin typeface="Manrope"/>
              </a:defRPr>
            </a:pPr>
            <a:r>
              <a:t>Heavy 750 g glass jars sit immobile in cupboards rather than travelling conveniently in work bags.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822960"/>
            <a:ext cx="96012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D640"/>
                </a:solidFill>
                <a:latin typeface="Manrope"/>
              </a:defRPr>
            </a:pPr>
            <a:r>
              <a:t>02 / THE SOLUTION  •  PITCH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234440"/>
            <a:ext cx="98755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4000" b="1">
                <a:solidFill>
                  <a:srgbClr val="FFFFFF"/>
                </a:solidFill>
                <a:latin typeface="Manrope"/>
              </a:defRPr>
            </a:pPr>
            <a:r>
              <a:t>10 g Spread Disc on Release Film.</a:t>
            </a:r>
          </a:p>
          <a:p>
            <a:pPr>
              <a:defRPr sz="1700">
                <a:solidFill>
                  <a:srgbClr val="FFD640"/>
                </a:solidFill>
                <a:latin typeface="Manrope"/>
              </a:defRPr>
            </a:pPr>
            <a:r>
              <a:t>Peel it off. Press onto hot toast. Residual thermal energy softens it in seconds.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926080"/>
            <a:ext cx="4754880" cy="3017520"/>
          </a:xfrm>
          <a:prstGeom prst="roundRect">
            <a:avLst/>
          </a:prstGeom>
          <a:solidFill>
            <a:srgbClr val="2D1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3291840"/>
            <a:ext cx="402336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FFD640"/>
                </a:solidFill>
                <a:latin typeface="Manrope"/>
              </a:defRPr>
            </a:pPr>
            <a:r>
              <a:t>Thermal Melt Gesture</a:t>
            </a:r>
          </a:p>
          <a:p>
            <a:pPr>
              <a:defRPr sz="1400">
                <a:solidFill>
                  <a:srgbClr val="FFFFFF"/>
                </a:solidFill>
                <a:latin typeface="Manrope"/>
              </a:defRPr>
            </a:pPr>
            <a:r>
              <a:t>Residual heat from toasted bread softens the disc into an even, velvety layer with zero cutlery.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926080"/>
            <a:ext cx="4754880" cy="3017520"/>
          </a:xfrm>
          <a:prstGeom prst="roundRect">
            <a:avLst/>
          </a:prstGeom>
          <a:solidFill>
            <a:srgbClr val="2D1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3291840"/>
            <a:ext cx="402336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FFD640"/>
                </a:solidFill>
                <a:latin typeface="Manrope"/>
              </a:defRPr>
            </a:pPr>
            <a:r>
              <a:t>Calibrated Portion Control</a:t>
            </a:r>
          </a:p>
          <a:p>
            <a:pPr>
              <a:defRPr sz="1400">
                <a:solidFill>
                  <a:srgbClr val="FFFFFF"/>
                </a:solidFill>
                <a:latin typeface="Manrope"/>
              </a:defRPr>
            </a:pPr>
            <a:r>
              <a:t>Pre-portioned 10 g servings eliminate cross-contamination, messy sticky jars, and food waste.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822960"/>
            <a:ext cx="96012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D640"/>
                </a:solidFill>
                <a:latin typeface="Manrope"/>
              </a:defRPr>
            </a:pPr>
            <a:r>
              <a:t>03 / THE FORMAT  •  PITCH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234440"/>
            <a:ext cx="98755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4000" b="1">
                <a:solidFill>
                  <a:srgbClr val="FFFFFF"/>
                </a:solidFill>
                <a:latin typeface="Manrope"/>
              </a:defRPr>
            </a:pPr>
            <a:r>
              <a:t>12-Month Ambient Pantry Life.</a:t>
            </a:r>
          </a:p>
          <a:p>
            <a:pPr>
              <a:defRPr sz="1700">
                <a:solidFill>
                  <a:srgbClr val="FFD640"/>
                </a:solidFill>
                <a:latin typeface="Manrope"/>
              </a:defRPr>
            </a:pPr>
            <a:r>
              <a:t>Pocketable 8-stamp card sheets. Verified ambient stability with zero refrigeration.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926080"/>
            <a:ext cx="4754880" cy="3017520"/>
          </a:xfrm>
          <a:prstGeom prst="roundRect">
            <a:avLst/>
          </a:prstGeom>
          <a:solidFill>
            <a:srgbClr val="2D1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3291840"/>
            <a:ext cx="402336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FFD640"/>
                </a:solidFill>
                <a:latin typeface="Manrope"/>
              </a:defRPr>
            </a:pPr>
            <a:r>
              <a:t>Continuous Deposit Packaging</a:t>
            </a:r>
          </a:p>
          <a:p>
            <a:pPr>
              <a:defRPr sz="1400">
                <a:solidFill>
                  <a:srgbClr val="FFFFFF"/>
                </a:solidFill>
                <a:latin typeface="Manrope"/>
              </a:defRPr>
            </a:pPr>
            <a:r>
              <a:t>Hermetically sealed card sheets protect against moisture and air, maintaining 12-month ambient shelf life.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926080"/>
            <a:ext cx="4754880" cy="3017520"/>
          </a:xfrm>
          <a:prstGeom prst="roundRect">
            <a:avLst/>
          </a:prstGeom>
          <a:solidFill>
            <a:srgbClr val="2D1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3291840"/>
            <a:ext cx="402336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FFD640"/>
                </a:solidFill>
                <a:latin typeface="Manrope"/>
              </a:defRPr>
            </a:pPr>
            <a:r>
              <a:t>Four Launch Varieties</a:t>
            </a:r>
          </a:p>
          <a:p>
            <a:pPr>
              <a:defRPr sz="1400">
                <a:solidFill>
                  <a:srgbClr val="FFFFFF"/>
                </a:solidFill>
                <a:latin typeface="Manrope"/>
              </a:defRPr>
            </a:pPr>
            <a:r>
              <a:t>Salted Butter, Wild Raspberry whole fruit paste, Savoury Yeast extract, and Roasted Peanut.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6012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467A"/>
                </a:solidFill>
                <a:latin typeface="Manrope"/>
              </a:defRPr>
            </a:pPr>
            <a:r>
              <a:t>04 / MARKET SCALE  •  PITCH PART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645920"/>
            <a:ext cx="9875520" cy="4297680"/>
          </a:xfrm>
          <a:prstGeom prst="roundRect">
            <a:avLst/>
          </a:prstGeom>
          <a:solidFill>
            <a:srgbClr val="2D0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2194560"/>
            <a:ext cx="877824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7200" b="1">
                <a:solidFill>
                  <a:srgbClr val="FF467A"/>
                </a:solidFill>
                <a:latin typeface="Manrope"/>
              </a:defRPr>
            </a:pPr>
            <a:r>
              <a:t>$341M</a:t>
            </a:r>
          </a:p>
          <a:p>
            <a:pPr>
              <a:spcAft>
                <a:spcPts val="1200"/>
              </a:spcAft>
              <a:defRPr sz="2800" b="1">
                <a:solidFill>
                  <a:srgbClr val="FFFFFF"/>
                </a:solidFill>
                <a:latin typeface="Manrope"/>
              </a:defRPr>
            </a:pPr>
            <a:r>
              <a:t>New Zealand Spreads Category.</a:t>
            </a:r>
          </a:p>
          <a:p>
            <a:pPr>
              <a:defRPr sz="1600">
                <a:solidFill>
                  <a:srgbClr val="FF467A"/>
                </a:solidFill>
                <a:latin typeface="Manrope"/>
              </a:defRPr>
            </a:pPr>
            <a:r>
              <a:t>+24% category revenue growth (2022–2025). Premium branded spreads surged +29% to $113M NZD.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6012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467A"/>
                </a:solidFill>
                <a:latin typeface="Manrope"/>
              </a:defRPr>
            </a:pPr>
            <a:r>
              <a:t>05 / COMPETITIVE VOID  •  PITCH PART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645920"/>
            <a:ext cx="9875520" cy="4297680"/>
          </a:xfrm>
          <a:prstGeom prst="roundRect">
            <a:avLst/>
          </a:prstGeom>
          <a:solidFill>
            <a:srgbClr val="2D0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2194560"/>
            <a:ext cx="877824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7200" b="1">
                <a:solidFill>
                  <a:srgbClr val="FF467A"/>
                </a:solidFill>
                <a:latin typeface="Manrope"/>
              </a:defRPr>
            </a:pPr>
            <a:r>
              <a:t>0 Rivals</a:t>
            </a:r>
          </a:p>
          <a:p>
            <a:pPr>
              <a:spcAft>
                <a:spcPts val="1200"/>
              </a:spcAft>
              <a:defRPr sz="2800" b="1">
                <a:solidFill>
                  <a:srgbClr val="FFFFFF"/>
                </a:solidFill>
                <a:latin typeface="Manrope"/>
              </a:defRPr>
            </a:pPr>
            <a:r>
              <a:t>Across 154 Supermarket Spreads.</a:t>
            </a:r>
          </a:p>
          <a:p>
            <a:pPr>
              <a:defRPr sz="1600">
                <a:solidFill>
                  <a:srgbClr val="FF467A"/>
                </a:solidFill>
                <a:latin typeface="Manrope"/>
              </a:defRPr>
            </a:pPr>
            <a:r>
              <a:t>Not a single brand offers a utensil-free single-serve format. Jars compete on bulk weight; Stamp wins on convenience.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6012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467A"/>
                </a:solidFill>
                <a:latin typeface="Manrope"/>
              </a:defRPr>
            </a:pPr>
            <a:r>
              <a:t>06 / UNIT ECONOMICS  •  PITCH PART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645920"/>
            <a:ext cx="9875520" cy="4297680"/>
          </a:xfrm>
          <a:prstGeom prst="roundRect">
            <a:avLst/>
          </a:prstGeom>
          <a:solidFill>
            <a:srgbClr val="2D0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2194560"/>
            <a:ext cx="877824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7200" b="1">
                <a:solidFill>
                  <a:srgbClr val="FF467A"/>
                </a:solidFill>
                <a:latin typeface="Manrope"/>
              </a:defRPr>
            </a:pPr>
            <a:r>
              <a:t>$1.75 Margin</a:t>
            </a:r>
          </a:p>
          <a:p>
            <a:pPr>
              <a:spcAft>
                <a:spcPts val="1200"/>
              </a:spcAft>
              <a:defRPr sz="2800" b="1">
                <a:solidFill>
                  <a:srgbClr val="FFFFFF"/>
                </a:solidFill>
                <a:latin typeface="Manrope"/>
              </a:defRPr>
            </a:pPr>
            <a:r>
              <a:t>$5.00 NZD per 8-Stamp Sheet.</a:t>
            </a:r>
          </a:p>
          <a:p>
            <a:pPr>
              <a:defRPr sz="1600">
                <a:solidFill>
                  <a:srgbClr val="FF467A"/>
                </a:solidFill>
                <a:latin typeface="Manrope"/>
              </a:defRPr>
            </a:pPr>
            <a:r>
              <a:t>Just 63¢ per toast serving. At an assumed $1.50 contract manufacturing cost and 35% retail margin, Stamp captures $1.75 contribution.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E2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822960"/>
            <a:ext cx="96012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8C30"/>
                </a:solidFill>
                <a:latin typeface="Manrope"/>
              </a:defRPr>
            </a:pPr>
            <a:r>
              <a:t>07 / REFLECTION  •  CONTEXT STEERING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234440"/>
            <a:ext cx="98755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4000" b="1">
                <a:solidFill>
                  <a:srgbClr val="FFFFFF"/>
                </a:solidFill>
                <a:latin typeface="Manrope"/>
              </a:defRPr>
            </a:pPr>
            <a:r>
              <a:t>Strict Negative Constraints.</a:t>
            </a:r>
          </a:p>
          <a:p>
            <a:pPr>
              <a:defRPr sz="1700">
                <a:solidFill>
                  <a:srgbClr val="FF8C30"/>
                </a:solidFill>
                <a:latin typeface="Manrope"/>
              </a:defRPr>
            </a:pPr>
            <a:r>
              <a:t>Banning hallucinated health claims and partitioning sessions to prevent context drift.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926080"/>
            <a:ext cx="4754880" cy="3017520"/>
          </a:xfrm>
          <a:prstGeom prst="roundRect">
            <a:avLst/>
          </a:prstGeom>
          <a:solidFill>
            <a:srgbClr val="2D14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3291840"/>
            <a:ext cx="402336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FF8C30"/>
                </a:solidFill>
                <a:latin typeface="Manrope"/>
              </a:defRPr>
            </a:pPr>
            <a:r>
              <a:t>Negative Prompt Guards</a:t>
            </a:r>
          </a:p>
          <a:p>
            <a:pPr>
              <a:defRPr sz="1400">
                <a:solidFill>
                  <a:srgbClr val="FFFFFF"/>
                </a:solidFill>
                <a:latin typeface="Manrope"/>
              </a:defRPr>
            </a:pPr>
            <a:r>
              <a:t>Enforcing strict bans against therapeutic health benefits and fake organic badges eliminated marketing fluff.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926080"/>
            <a:ext cx="4754880" cy="3017520"/>
          </a:xfrm>
          <a:prstGeom prst="roundRect">
            <a:avLst/>
          </a:prstGeom>
          <a:solidFill>
            <a:srgbClr val="2D14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3291840"/>
            <a:ext cx="402336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FF8C30"/>
                </a:solidFill>
                <a:latin typeface="Manrope"/>
              </a:defRPr>
            </a:pPr>
            <a:r>
              <a:t>Session Partitioning</a:t>
            </a:r>
          </a:p>
          <a:p>
            <a:pPr>
              <a:defRPr sz="1400">
                <a:solidFill>
                  <a:srgbClr val="FFFFFF"/>
                </a:solidFill>
                <a:latin typeface="Manrope"/>
              </a:defRPr>
            </a:pPr>
            <a:r>
              <a:t>Isolating data cleaning, brand spec, and copywriting into modular sessions eliminated context decay.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E2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822960"/>
            <a:ext cx="96012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8C30"/>
                </a:solidFill>
                <a:latin typeface="Manrope"/>
              </a:defRPr>
            </a:pPr>
            <a:r>
              <a:t>08 / REFLECTION  •  TURNING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234440"/>
            <a:ext cx="98755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4000" b="1">
                <a:solidFill>
                  <a:srgbClr val="FFFFFF"/>
                </a:solidFill>
                <a:latin typeface="Manrope"/>
              </a:defRPr>
            </a:pPr>
            <a:r>
              <a:t>Catching Butter Instability.</a:t>
            </a:r>
          </a:p>
          <a:p>
            <a:pPr>
              <a:defRPr sz="1700">
                <a:solidFill>
                  <a:srgbClr val="FF8C30"/>
                </a:solidFill>
                <a:latin typeface="Manrope"/>
              </a:defRPr>
            </a:pPr>
            <a:r>
              <a:t>Rejecting unrealistic model assumptions about ambient dairy shelf life.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926080"/>
            <a:ext cx="4754880" cy="3017520"/>
          </a:xfrm>
          <a:prstGeom prst="roundRect">
            <a:avLst/>
          </a:prstGeom>
          <a:solidFill>
            <a:srgbClr val="2D14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3291840"/>
            <a:ext cx="402336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FF8C30"/>
                </a:solidFill>
                <a:latin typeface="Manrope"/>
              </a:defRPr>
            </a:pPr>
            <a:r>
              <a:t>The Hallucinated Assumption</a:t>
            </a:r>
          </a:p>
          <a:p>
            <a:pPr>
              <a:defRPr sz="1400">
                <a:solidFill>
                  <a:srgbClr val="FFFFFF"/>
                </a:solidFill>
                <a:latin typeface="Manrope"/>
              </a:defRPr>
            </a:pPr>
            <a:r>
              <a:t>AI assumed standard churned butter could sit ambiently in a pantry for 12 months without spoiling.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926080"/>
            <a:ext cx="4754880" cy="3017520"/>
          </a:xfrm>
          <a:prstGeom prst="roundRect">
            <a:avLst/>
          </a:prstGeom>
          <a:solidFill>
            <a:srgbClr val="2D14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3291840"/>
            <a:ext cx="402336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FF8C30"/>
                </a:solidFill>
                <a:latin typeface="Manrope"/>
              </a:defRPr>
            </a:pPr>
            <a:r>
              <a:t>The Human Formulation Pivot</a:t>
            </a:r>
          </a:p>
          <a:p>
            <a:pPr>
              <a:defRPr sz="1400">
                <a:solidFill>
                  <a:srgbClr val="FFFFFF"/>
                </a:solidFill>
                <a:latin typeface="Manrope"/>
              </a:defRPr>
            </a:pPr>
            <a:r>
              <a:t>Caught the food science flaw and forced reformulation into a cultured dairy spread to ensure shelf stability.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E2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822960"/>
            <a:ext cx="96012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8C30"/>
                </a:solidFill>
                <a:latin typeface="Manrope"/>
              </a:defRPr>
            </a:pPr>
            <a:r>
              <a:t>09 / REFLECTION  • 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234440"/>
            <a:ext cx="98755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4000" b="1">
                <a:solidFill>
                  <a:srgbClr val="FFFFFF"/>
                </a:solidFill>
                <a:latin typeface="Manrope"/>
              </a:defRPr>
            </a:pPr>
            <a:r>
              <a:t>AI as Drafter, Not Director.</a:t>
            </a:r>
          </a:p>
          <a:p>
            <a:pPr>
              <a:defRPr sz="1700">
                <a:solidFill>
                  <a:srgbClr val="FF8C30"/>
                </a:solidFill>
                <a:latin typeface="Manrope"/>
              </a:defRPr>
            </a:pPr>
            <a:r>
              <a:t>Auditing raw retail scan outliers and independently verifying competitor prices.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926080"/>
            <a:ext cx="4754880" cy="3017520"/>
          </a:xfrm>
          <a:prstGeom prst="roundRect">
            <a:avLst/>
          </a:prstGeom>
          <a:solidFill>
            <a:srgbClr val="2D14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3291840"/>
            <a:ext cx="402336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FF8C30"/>
                </a:solidFill>
                <a:latin typeface="Manrope"/>
              </a:defRPr>
            </a:pPr>
            <a:r>
              <a:t>Data Cleaning Audits</a:t>
            </a:r>
          </a:p>
          <a:p>
            <a:pPr>
              <a:defRPr sz="1400">
                <a:solidFill>
                  <a:srgbClr val="FFFFFF"/>
                </a:solidFill>
                <a:latin typeface="Manrope"/>
              </a:defRPr>
            </a:pPr>
            <a:r>
              <a:t>Manually audited raw breakfast sales data to catch aberrant price outliers (&gt;$40) and formula errors.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926080"/>
            <a:ext cx="4754880" cy="3017520"/>
          </a:xfrm>
          <a:prstGeom prst="roundRect">
            <a:avLst/>
          </a:prstGeom>
          <a:solidFill>
            <a:srgbClr val="2D14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3291840"/>
            <a:ext cx="402336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FF8C30"/>
                </a:solidFill>
                <a:latin typeface="Manrope"/>
              </a:defRPr>
            </a:pPr>
            <a:r>
              <a:t>Live Shelf Benchmarks</a:t>
            </a:r>
          </a:p>
          <a:p>
            <a:pPr>
              <a:defRPr sz="1400">
                <a:solidFill>
                  <a:srgbClr val="FFFFFF"/>
                </a:solidFill>
                <a:latin typeface="Manrope"/>
              </a:defRPr>
            </a:pPr>
            <a:r>
              <a:t>Directly cross-referenced New World retail prices (Pic's $7.79, Fix &amp; Fogg $11.99) rather than trusting AI estimates.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822960"/>
            <a:ext cx="96012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E24BFF"/>
                </a:solidFill>
                <a:latin typeface="Manrope"/>
              </a:defRPr>
            </a:pPr>
            <a:r>
              <a:t>10 / REFLECTION  •  AUTHENTICITY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234440"/>
            <a:ext cx="98755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4000" b="1">
                <a:solidFill>
                  <a:srgbClr val="FFFFFF"/>
                </a:solidFill>
                <a:latin typeface="Manrope"/>
              </a:defRPr>
            </a:pPr>
            <a:r>
              <a:t>Banning Corporate Buzzwords.</a:t>
            </a:r>
          </a:p>
          <a:p>
            <a:pPr>
              <a:defRPr sz="1700">
                <a:solidFill>
                  <a:srgbClr val="E24BFF"/>
                </a:solidFill>
                <a:latin typeface="Manrope"/>
              </a:defRPr>
            </a:pPr>
            <a:r>
              <a:t>Stripping hyperbolic marketing cliches for punchy facts: Peel. Press. Toast.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926080"/>
            <a:ext cx="4754880" cy="3017520"/>
          </a:xfrm>
          <a:prstGeom prst="roundRect">
            <a:avLst/>
          </a:prstGeom>
          <a:solidFill>
            <a:srgbClr val="3B0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3291840"/>
            <a:ext cx="402336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E24BFF"/>
                </a:solidFill>
                <a:latin typeface="Manrope"/>
              </a:defRPr>
            </a:pPr>
            <a:r>
              <a:t>Rejecting Slop Phrases</a:t>
            </a:r>
          </a:p>
          <a:p>
            <a:pPr>
              <a:defRPr sz="1400">
                <a:solidFill>
                  <a:srgbClr val="FFFFFF"/>
                </a:solidFill>
                <a:latin typeface="Manrope"/>
              </a:defRPr>
            </a:pPr>
            <a:r>
              <a:t>Actively stripped generic corporate fluff ('game-changer', 'revolutionary journey') to maintain authentic tone.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926080"/>
            <a:ext cx="4754880" cy="3017520"/>
          </a:xfrm>
          <a:prstGeom prst="roundRect">
            <a:avLst/>
          </a:prstGeom>
          <a:solidFill>
            <a:srgbClr val="3B0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3291840"/>
            <a:ext cx="402336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E24BFF"/>
                </a:solidFill>
                <a:latin typeface="Manrope"/>
              </a:defRPr>
            </a:pPr>
            <a:r>
              <a:t>Physical Reality Grounding</a:t>
            </a:r>
          </a:p>
          <a:p>
            <a:pPr>
              <a:defRPr sz="1400">
                <a:solidFill>
                  <a:srgbClr val="FFFFFF"/>
                </a:solidFill>
                <a:latin typeface="Manrope"/>
              </a:defRPr>
            </a:pPr>
            <a:r>
              <a:t>Anchored packaging in real industrial tooling (continuous deposit, release film) rather than AI fantasy mockups.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822960"/>
            <a:ext cx="96012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E24BFF"/>
                </a:solidFill>
                <a:latin typeface="Manrope"/>
              </a:defRPr>
            </a:pPr>
            <a:r>
              <a:t>11 / REFLECTION  •  REGULATION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234440"/>
            <a:ext cx="98755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4000" b="1">
                <a:solidFill>
                  <a:srgbClr val="FFFFFF"/>
                </a:solidFill>
                <a:latin typeface="Manrope"/>
              </a:defRPr>
            </a:pPr>
            <a:r>
              <a:t>Zero Hallucination Tolerance.</a:t>
            </a:r>
          </a:p>
          <a:p>
            <a:pPr>
              <a:defRPr sz="1700">
                <a:solidFill>
                  <a:srgbClr val="E24BFF"/>
                </a:solidFill>
                <a:latin typeface="Manrope"/>
              </a:defRPr>
            </a:pPr>
            <a:r>
              <a:t>Strict FSANZ food compliance and non-negotiable allergen disclosures.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926080"/>
            <a:ext cx="4754880" cy="3017520"/>
          </a:xfrm>
          <a:prstGeom prst="roundRect">
            <a:avLst/>
          </a:prstGeom>
          <a:solidFill>
            <a:srgbClr val="3B0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3291840"/>
            <a:ext cx="402336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E24BFF"/>
                </a:solidFill>
                <a:latin typeface="Manrope"/>
              </a:defRPr>
            </a:pPr>
            <a:r>
              <a:t>The Legal Hazard</a:t>
            </a:r>
          </a:p>
          <a:p>
            <a:pPr>
              <a:defRPr sz="1400">
                <a:solidFill>
                  <a:srgbClr val="FFFFFF"/>
                </a:solidFill>
                <a:latin typeface="Manrope"/>
              </a:defRPr>
            </a:pPr>
            <a:r>
              <a:t>Unchecked AI frequently invents fake organic labels or dangerous 'gluten-free' badges (hazardous for Yeast extract).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926080"/>
            <a:ext cx="4754880" cy="3017520"/>
          </a:xfrm>
          <a:prstGeom prst="roundRect">
            <a:avLst/>
          </a:prstGeom>
          <a:solidFill>
            <a:srgbClr val="3B0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3291840"/>
            <a:ext cx="402336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E24BFF"/>
                </a:solidFill>
                <a:latin typeface="Manrope"/>
              </a:defRPr>
            </a:pPr>
            <a:r>
              <a:t>Enforcing Standards</a:t>
            </a:r>
          </a:p>
          <a:p>
            <a:pPr>
              <a:defRPr sz="1400">
                <a:solidFill>
                  <a:srgbClr val="FFFFFF"/>
                </a:solidFill>
                <a:latin typeface="Manrope"/>
              </a:defRPr>
            </a:pPr>
            <a:r>
              <a:t>Complied strictly with Food Standards Australia New Zealand and ensured peanut and gluten warnings remained prominent.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822960"/>
            <a:ext cx="96012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E24BFF"/>
                </a:solidFill>
                <a:latin typeface="Manrope"/>
              </a:defRPr>
            </a:pPr>
            <a:r>
              <a:t>12 / REFLECTION  •  ETHICS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234440"/>
            <a:ext cx="98755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4000" b="1">
                <a:solidFill>
                  <a:srgbClr val="FFFFFF"/>
                </a:solidFill>
                <a:latin typeface="Manrope"/>
              </a:defRPr>
            </a:pPr>
            <a:r>
              <a:t>Accountability Remains Human.</a:t>
            </a:r>
          </a:p>
          <a:p>
            <a:pPr>
              <a:defRPr sz="1700">
                <a:solidFill>
                  <a:srgbClr val="E24BFF"/>
                </a:solidFill>
                <a:latin typeface="Manrope"/>
              </a:defRPr>
            </a:pPr>
            <a:r>
              <a:t>Legal, moral, and customer responsibility can never be outsourced to an algorithm.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926080"/>
            <a:ext cx="4754880" cy="3017520"/>
          </a:xfrm>
          <a:prstGeom prst="roundRect">
            <a:avLst/>
          </a:prstGeom>
          <a:solidFill>
            <a:srgbClr val="3B0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3291840"/>
            <a:ext cx="402336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E24BFF"/>
                </a:solidFill>
                <a:latin typeface="Manrope"/>
              </a:defRPr>
            </a:pPr>
            <a:r>
              <a:t>Non-Delegable Agency</a:t>
            </a:r>
          </a:p>
          <a:p>
            <a:pPr>
              <a:defRPr sz="1400">
                <a:solidFill>
                  <a:srgbClr val="FFFFFF"/>
                </a:solidFill>
                <a:latin typeface="Manrope"/>
              </a:defRPr>
            </a:pPr>
            <a:r>
              <a:t>When deploying AI commercially, accountability for safety and truth rests entirely with the human practitioner.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926080"/>
            <a:ext cx="4754880" cy="3017520"/>
          </a:xfrm>
          <a:prstGeom prst="roundRect">
            <a:avLst/>
          </a:prstGeom>
          <a:solidFill>
            <a:srgbClr val="3B0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3291840"/>
            <a:ext cx="402336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E24BFF"/>
                </a:solidFill>
                <a:latin typeface="Manrope"/>
              </a:defRPr>
            </a:pPr>
            <a:r>
              <a:t>The Core Worker Value</a:t>
            </a:r>
          </a:p>
          <a:p>
            <a:pPr>
              <a:defRPr sz="1400">
                <a:solidFill>
                  <a:srgbClr val="FFFFFF"/>
                </a:solidFill>
                <a:latin typeface="Manrope"/>
              </a:defRPr>
            </a:pPr>
            <a:r>
              <a:t>Critical thinking, skepticism, taste, and verification are the irreplaceable skills of future knowledge workers.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